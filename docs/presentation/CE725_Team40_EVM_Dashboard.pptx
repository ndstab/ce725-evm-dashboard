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c26fd27-eb6e-b958-9203-791521b4d3b8}">
          <p14:sldIdLst>
            <p14:sldId id="256"/>
            <p14:sldId id="257"/>
          </p14:sldIdLst>
        </p14:section>
        <p14:section name="Method" id="{ad0a6a03-5d67-3f6c-8cf0-a9f9e628c936}">
          <p14:sldIdLst>
            <p14:sldId id="258"/>
            <p14:sldId id="259"/>
            <p14:sldId id="260"/>
          </p14:sldIdLst>
        </p14:section>
        <p14:section name="Demonstration" id="{7785b07a-f1eb-bce0-738c-a63f5f952e8d}">
          <p14:sldIdLst>
            <p14:sldId id="261"/>
            <p14:sldId id="262"/>
            <p14:sldId id="263"/>
            <p14:sldId id="264"/>
          </p14:sldIdLst>
        </p14:section>
        <p14:section name="Validation" id="{505cab83-7dd5-721c-7093-da8104be46fc}">
          <p14:sldIdLst>
            <p14:sldId id="265"/>
            <p14:sldId id="266"/>
          </p14:sldIdLst>
        </p14:section>
        <p14:section name="Closing" id="{f0c4781e-b28e-8338-5947-8d2b908fc555}">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chemeClr val="tx1"/>
                </a:solidFill>
                <a:latin typeface="+mn-lt"/>
              </a:defRPr>
            </a:pPr>
            <a:r>
              <a:rPr sz="1300" b="0" i="0" u="none" strike="noStrike">
                <a:solidFill>
                  <a:schemeClr val="tx1"/>
                </a:solidFill>
                <a:latin typeface="+mn-lt"/>
              </a:rPr>
              <a:t>Budget by division, ₹ crore</a:t>
            </a:r>
          </a:p>
        </c:rich>
      </c:tx>
      <c:layout/>
      <c:overlay val="0"/>
    </c:title>
    <c:autoTitleDeleted val="0"/>
    <c:plotArea>
      <c:layout/>
      <c:barChart>
        <c:barDir val="bar"/>
        <c:grouping val="clustered"/>
        <c:varyColors val="0"/>
        <c:ser>
          <c:idx val="0"/>
          <c:order val="0"/>
          <c:tx>
            <c:strRef>
              <c:f>Sheet1!$B$1</c:f>
              <c:strCache>
                <c:ptCount val="1"/>
                <c:pt idx="0">
                  <c:v>Budget</c:v>
                </c:pt>
              </c:strCache>
            </c:strRef>
          </c:tx>
          <c:spPr>
            <a:solidFill>
              <a:srgbClr val="3E5660"/>
            </a:solidFill>
            <a:effectLst/>
          </c:spPr>
          <c:invertIfNegative val="0"/>
          <c:dLbls>
            <c:numFmt formatCode="0.00" sourceLinked="0"/>
            <c:txPr>
              <a:bodyPr/>
              <a:lstStyle/>
              <a:p>
                <a:pPr>
                  <a:defRPr b="0" i="0" strike="noStrike" sz="1100" u="none">
                    <a:solidFill>
                      <a:srgbClr val="3E5660"/>
                    </a:solidFill>
                    <a:latin typeface="+mn-lt"/>
                  </a:defRPr>
                </a:pPr>
              </a:p>
            </c:txPr>
            <c:showLegendKey val="0"/>
            <c:showVal val="1"/>
            <c:showCatName val="0"/>
            <c:showSerName val="0"/>
            <c:showPercent val="0"/>
            <c:showBubbleSize val="0"/>
            <c:showLeaderLines val="0"/>
          </c:dLbls>
          <c:cat>
            <c:multiLvlStrRef>
              <c:f>Sheet1!$A$2:$A$7</c:f>
              <c:multiLvlStrCache>
                <c:ptCount val="6"/>
                <c:lvl>
                  <c:pt idx="0">
                    <c:v>External and handover</c:v>
                  </c:pt>
                  <c:pt idx="1">
                    <c:v>Building services</c:v>
                  </c:pt>
                  <c:pt idx="2">
                    <c:v>Masonry and finishes</c:v>
                  </c:pt>
                  <c:pt idx="3">
                    <c:v>Superstructure</c:v>
                  </c:pt>
                  <c:pt idx="4">
                    <c:v>Substructure</c:v>
                  </c:pt>
                  <c:pt idx="5">
                    <c:v>Preliminaries</c:v>
                  </c:pt>
                </c:lvl>
              </c:multiLvlStrCache>
            </c:multiLvlStrRef>
          </c:cat>
          <c:val>
            <c:numRef>
              <c:f>Sheet1!$B$2:$B$7</c:f>
              <c:numCache>
                <c:formatCode>General</c:formatCode>
                <c:ptCount val="6"/>
                <c:pt idx="0">
                  <c:v>0.86</c:v>
                </c:pt>
                <c:pt idx="1">
                  <c:v>2.75</c:v>
                </c:pt>
                <c:pt idx="2">
                  <c:v>3.43</c:v>
                </c:pt>
                <c:pt idx="3">
                  <c:v>4.1</c:v>
                </c:pt>
                <c:pt idx="4">
                  <c:v>2.43</c:v>
                </c:pt>
                <c:pt idx="5">
                  <c:v>0.43</c:v>
                </c:pt>
              </c:numCache>
            </c:numRef>
          </c:val>
        </c:ser>
        <c:dLbls>
          <c:numFmt formatCode="0.00" sourceLinked="0"/>
          <c:txPr>
            <a:bodyPr/>
            <a:lstStyle/>
            <a:p>
              <a:pPr>
                <a:defRPr b="0" i="0" strike="noStrike" sz="1100" u="none">
                  <a:solidFill>
                    <a:srgbClr val="3E566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E5660"/>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12700" cap="flat">
              <a:solidFill>
                <a:srgbClr val="DDE3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3E5660"/>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chemeClr val="tx1"/>
                </a:solidFill>
                <a:latin typeface="+mn-lt"/>
              </a:defRPr>
            </a:pPr>
            <a:r>
              <a:rPr sz="1300" b="0" i="0" u="none" strike="noStrike">
                <a:solidFill>
                  <a:schemeClr val="tx1"/>
                </a:solidFill>
                <a:latin typeface="+mn-lt"/>
              </a:rPr>
              <a:t>Performance indices, Apr to Sep 2026</a:t>
            </a:r>
          </a:p>
        </c:rich>
      </c:tx>
      <c:layout/>
      <c:overlay val="0"/>
    </c:title>
    <c:autoTitleDeleted val="0"/>
    <c:plotArea>
      <c:layout/>
      <c:lineChart>
        <c:varyColors val="0"/>
        <c:ser>
          <c:idx val="0"/>
          <c:order val="0"/>
          <c:tx>
            <c:strRef>
              <c:f>Sheet1!$B$1</c:f>
              <c:strCache>
                <c:ptCount val="1"/>
                <c:pt idx="0">
                  <c:v>CPI</c:v>
                </c:pt>
              </c:strCache>
            </c:strRef>
          </c:tx>
          <c:spPr>
            <a:solidFill>
              <a:srgbClr val="C1553B"/>
            </a:solidFill>
            <a:ln w="38100" cap="flat">
              <a:solidFill>
                <a:srgbClr val="C1553B"/>
              </a:solidFill>
              <a:prstDash val="solid"/>
              <a:round/>
            </a:ln>
            <a:effectLst/>
          </c:spPr>
          <c:invertIfNegative val="0"/>
          <c:dLbls>
            <c:numFmt formatCode="0.0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1553B"/>
              </a:solidFill>
              <a:ln w="9525" cap="flat">
                <a:solidFill>
                  <a:srgbClr val="C1553B"/>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Sheet1!$B$2:$B$7</c:f>
              <c:numCache>
                <c:formatCode>General</c:formatCode>
                <c:ptCount val="6"/>
                <c:pt idx="0">
                  <c:v>0.878</c:v>
                </c:pt>
                <c:pt idx="1">
                  <c:v>0.874</c:v>
                </c:pt>
                <c:pt idx="2">
                  <c:v>0.865</c:v>
                </c:pt>
                <c:pt idx="3">
                  <c:v>0.873</c:v>
                </c:pt>
                <c:pt idx="4">
                  <c:v>0.878</c:v>
                </c:pt>
                <c:pt idx="5">
                  <c:v>0.872</c:v>
                </c:pt>
              </c:numCache>
            </c:numRef>
          </c:val>
          <c:smooth val="0"/>
        </c:ser>
        <c:ser>
          <c:idx val="1"/>
          <c:order val="1"/>
          <c:tx>
            <c:strRef>
              <c:f>Sheet1!$C$1</c:f>
              <c:strCache>
                <c:ptCount val="1"/>
                <c:pt idx="0">
                  <c:v>SPI</c:v>
                </c:pt>
              </c:strCache>
            </c:strRef>
          </c:tx>
          <c:spPr>
            <a:solidFill>
              <a:srgbClr val="3E5660"/>
            </a:solidFill>
            <a:ln w="38100" cap="flat">
              <a:solidFill>
                <a:srgbClr val="3E5660"/>
              </a:solidFill>
              <a:prstDash val="solid"/>
              <a:round/>
            </a:ln>
            <a:effectLst/>
          </c:spPr>
          <c:invertIfNegative val="0"/>
          <c:dLbls>
            <c:numFmt formatCode="0.0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E5660"/>
              </a:solidFill>
              <a:ln w="9525" cap="flat">
                <a:solidFill>
                  <a:srgbClr val="3E5660"/>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Sheet1!$C$2:$C$7</c:f>
              <c:numCache>
                <c:formatCode>General</c:formatCode>
                <c:ptCount val="6"/>
                <c:pt idx="0">
                  <c:v>0.878</c:v>
                </c:pt>
                <c:pt idx="1">
                  <c:v>0.814</c:v>
                </c:pt>
                <c:pt idx="2">
                  <c:v>0.743</c:v>
                </c:pt>
                <c:pt idx="3">
                  <c:v>0.764</c:v>
                </c:pt>
                <c:pt idx="4">
                  <c:v>0.867</c:v>
                </c:pt>
                <c:pt idx="5">
                  <c:v>0.863</c:v>
                </c:pt>
              </c:numCache>
            </c:numRef>
          </c:val>
          <c:smooth val="0"/>
        </c:ser>
        <c:ser>
          <c:idx val="2"/>
          <c:order val="2"/>
          <c:tx>
            <c:strRef>
              <c:f>Sheet1!$D$1</c:f>
              <c:strCache>
                <c:ptCount val="1"/>
                <c:pt idx="0">
                  <c:v>SPI(t)</c:v>
                </c:pt>
              </c:strCache>
            </c:strRef>
          </c:tx>
          <c:spPr>
            <a:solidFill>
              <a:srgbClr val="4E7A6B"/>
            </a:solidFill>
            <a:ln w="38100" cap="flat">
              <a:solidFill>
                <a:srgbClr val="4E7A6B"/>
              </a:solidFill>
              <a:prstDash val="solid"/>
              <a:round/>
            </a:ln>
            <a:effectLst/>
          </c:spPr>
          <c:invertIfNegative val="0"/>
          <c:dLbls>
            <c:numFmt formatCode="0.0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4E7A6B"/>
              </a:solidFill>
              <a:ln w="9525" cap="flat">
                <a:solidFill>
                  <a:srgbClr val="4E7A6B"/>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Sheet1!$D$2:$D$7</c:f>
              <c:numCache>
                <c:formatCode>General</c:formatCode>
                <c:ptCount val="6"/>
                <c:pt idx="0">
                  <c:v>0.878</c:v>
                </c:pt>
                <c:pt idx="1">
                  <c:v>0.844</c:v>
                </c:pt>
                <c:pt idx="2">
                  <c:v>0.808</c:v>
                </c:pt>
                <c:pt idx="3">
                  <c:v>0.826</c:v>
                </c:pt>
                <c:pt idx="4">
                  <c:v>0.887</c:v>
                </c:pt>
                <c:pt idx="5">
                  <c:v>0.893</c:v>
                </c:pt>
              </c:numCache>
            </c:numRef>
          </c:val>
          <c:smooth val="0"/>
        </c:ser>
        <c:ser>
          <c:idx val="3"/>
          <c:order val="3"/>
          <c:tx>
            <c:strRef>
              <c:f>Sheet1!$E$1</c:f>
              <c:strCache>
                <c:ptCount val="1"/>
                <c:pt idx="0">
                  <c:v>target 1.00</c:v>
                </c:pt>
              </c:strCache>
            </c:strRef>
          </c:tx>
          <c:spPr>
            <a:solidFill>
              <a:srgbClr val="A8B2B8"/>
            </a:solidFill>
            <a:ln w="38100" cap="flat">
              <a:solidFill>
                <a:srgbClr val="A8B2B8"/>
              </a:solidFill>
              <a:prstDash val="solid"/>
              <a:round/>
            </a:ln>
            <a:effectLst/>
          </c:spPr>
          <c:invertIfNegative val="0"/>
          <c:dLbls>
            <c:numFmt formatCode="0.0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A8B2B8"/>
              </a:solidFill>
              <a:ln w="9525" cap="flat">
                <a:solidFill>
                  <a:srgbClr val="A8B2B8"/>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Sheet1!$E$2:$E$7</c:f>
              <c:numCache>
                <c:formatCode>General</c:formatCode>
                <c:ptCount val="6"/>
                <c:pt idx="0">
                  <c:v>1</c:v>
                </c:pt>
                <c:pt idx="1">
                  <c:v>1</c:v>
                </c:pt>
                <c:pt idx="2">
                  <c:v>1</c:v>
                </c:pt>
                <c:pt idx="3">
                  <c:v>1</c:v>
                </c:pt>
                <c:pt idx="4">
                  <c:v>1</c:v>
                </c:pt>
                <c:pt idx="5">
                  <c:v>1</c:v>
                </c:pt>
              </c:numCache>
            </c:numRef>
          </c:val>
          <c:smooth val="0"/>
        </c:ser>
        <c:dLbls>
          <c:numFmt formatCode="0.0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E5660"/>
                </a:solidFill>
                <a:latin typeface="+mn-lt"/>
              </a:defRPr>
            </a:pPr>
            <a:endParaRPr lang="en-US"/>
          </a:p>
        </c:txPr>
        <c:crossAx val="2094734552"/>
        <c:crosses val="autoZero"/>
        <c:auto val="1"/>
        <c:lblAlgn val="ctr"/>
        <c:noMultiLvlLbl val="1"/>
      </c:catAx>
      <c:valAx>
        <c:axId val="2094734552"/>
        <c:scaling>
          <c:orientation val="minMax"/>
          <c:max val="1.05"/>
          <c:min val="0.7"/>
        </c:scaling>
        <c:delete val="0"/>
        <c:axPos val="l"/>
        <c:majorGridlines>
          <c:spPr>
            <a:ln w="12700" cap="flat">
              <a:solidFill>
                <a:srgbClr val="DDE3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3E5660"/>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3E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chemeClr val="tx1"/>
                </a:solidFill>
                <a:latin typeface="+mn-lt"/>
              </a:defRPr>
            </a:pPr>
            <a:r>
              <a:rPr sz="1300" b="0" i="0" u="none" strike="noStrike">
                <a:solidFill>
                  <a:schemeClr val="tx1"/>
                </a:solidFill>
                <a:latin typeface="+mn-lt"/>
              </a:rPr>
              <a:t>Estimate at completion, ₹ crore</a:t>
            </a:r>
          </a:p>
        </c:rich>
      </c:tx>
      <c:layout/>
      <c:overlay val="0"/>
    </c:title>
    <c:autoTitleDeleted val="0"/>
    <c:plotArea>
      <c:layout/>
      <c:barChart>
        <c:barDir val="col"/>
        <c:grouping val="clustered"/>
        <c:varyColors val="0"/>
        <c:ser>
          <c:idx val="0"/>
          <c:order val="0"/>
          <c:tx>
            <c:strRef>
              <c:f>Sheet1!$B$1</c:f>
              <c:strCache>
                <c:ptCount val="1"/>
                <c:pt idx="0">
                  <c:v>Cost at completion</c:v>
                </c:pt>
              </c:strCache>
            </c:strRef>
          </c:tx>
          <c:spPr>
            <a:solidFill>
              <a:srgbClr val="3E5660"/>
            </a:solidFill>
            <a:effectLst/>
          </c:spPr>
          <c:invertIfNegative val="0"/>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3E5660"/>
              </a:solidFill>
              <a:effectLst/>
            </c:spPr>
          </c:dPt>
          <c:dPt>
            <c:idx val="1"/>
            <c:invertIfNegative val="0"/>
            <c:bubble3D val="0"/>
            <c:spPr>
              <a:solidFill>
                <a:srgbClr val="D4A04C"/>
              </a:solidFill>
              <a:effectLst/>
            </c:spPr>
          </c:dPt>
          <c:dPt>
            <c:idx val="2"/>
            <c:invertIfNegative val="0"/>
            <c:bubble3D val="0"/>
            <c:spPr>
              <a:solidFill>
                <a:srgbClr val="C1553B"/>
              </a:solidFill>
              <a:effectLst/>
            </c:spPr>
          </c:dPt>
          <c:dPt>
            <c:idx val="3"/>
            <c:invertIfNegative val="0"/>
            <c:bubble3D val="0"/>
            <c:spPr>
              <a:solidFill>
                <a:srgbClr val="C1553B"/>
              </a:solidFill>
              <a:effectLst/>
            </c:spPr>
          </c:dPt>
          <c:dPt>
            <c:idx val="4"/>
            <c:invertIfNegative val="0"/>
            <c:bubble3D val="0"/>
            <c:spPr>
              <a:solidFill>
                <a:srgbClr val="9E3F2B"/>
              </a:solidFill>
              <a:effectLst/>
            </c:spPr>
          </c:dPt>
          <c:cat>
            <c:multiLvlStrRef>
              <c:f>Sheet1!$A$2:$A$6</c:f>
              <c:multiLvlStrCache>
                <c:ptCount val="5"/>
                <c:lvl>
                  <c:pt idx="0">
                    <c:v>BAC
baseline</c:v>
                  </c:pt>
                  <c:pt idx="1">
                    <c:v>EAC2
variance was one-off</c:v>
                  </c:pt>
                  <c:pt idx="2">
                    <c:v>EAC1
CPI persists</c:v>
                  </c:pt>
                  <c:pt idx="3">
                    <c:v>EAC4
weighted 80/20</c:v>
                  </c:pt>
                  <c:pt idx="4">
                    <c:v>EAC3
CPI and SPI persist</c:v>
                  </c:pt>
                </c:lvl>
              </c:multiLvlStrCache>
            </c:multiLvlStrRef>
          </c:cat>
          <c:val>
            <c:numRef>
              <c:f>Sheet1!$B$2:$B$6</c:f>
              <c:numCache>
                <c:formatCode>General</c:formatCode>
                <c:ptCount val="5"/>
                <c:pt idx="0">
                  <c:v>14</c:v>
                </c:pt>
                <c:pt idx="1">
                  <c:v>14.51</c:v>
                </c:pt>
                <c:pt idx="2">
                  <c:v>16.06</c:v>
                </c:pt>
                <c:pt idx="3">
                  <c:v>16.09</c:v>
                </c:pt>
                <c:pt idx="4">
                  <c:v>17.98</c:v>
                </c:pt>
              </c:numCache>
            </c:numRef>
          </c:val>
        </c:ser>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E5660"/>
                </a:solidFill>
                <a:latin typeface="+mn-lt"/>
              </a:defRPr>
            </a:pPr>
            <a:endParaRPr lang="en-US"/>
          </a:p>
        </c:txPr>
        <c:crossAx val="2094734552"/>
        <c:crosses val="autoZero"/>
        <c:auto val="1"/>
        <c:lblAlgn val="ctr"/>
        <c:noMultiLvlLbl val="1"/>
      </c:catAx>
      <c:valAx>
        <c:axId val="2094734552"/>
        <c:scaling>
          <c:orientation val="minMax"/>
          <c:max val="20"/>
        </c:scaling>
        <c:delete val="0"/>
        <c:axPos val="l"/>
        <c:majorGridlines>
          <c:spPr>
            <a:ln w="12700" cap="flat">
              <a:solidFill>
                <a:srgbClr val="DDE3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3E5660"/>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We built a tool that tells a project manager whether a project is in trouble, where the trouble is, and what it will cost. The part we want to spend most of the time on is how we know the numbers are right - and what that checking still cannot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0:30-2:00. Ask the room: a project has spent 3.98 crore against a plan of 4.02 crore - is it healthy? Pause and let them answer yes. Then reveal the earned value: it has completed only 3.47 crore of work, so it is 14.7 per cent over budget and 19 days behind. Two numbers give you one comparison; you cannot separate doing the work from what the work costs without a third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2:00-3:30. PV, EV and AC are the only three measurements. Cost performance is EV against AC; schedule performance is EV against PV. That is the whole method and the rest is bookkeeping on top of it. Be ready to write any of these on the board - the brief says any member may be asked to explain any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Say the synthetic-data caveat explicitly and early - do not let it be discovered in questions. Budgets are order-of-magnitude plausible for a building of this size but they are assumed, not from any tender or invoice. We come back to why that choice matters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4:30-5:00. Keep this slide short - it is a signpost, not content. Then switch to the running dashboard. If the app has not started, present slides 6 to 9 from the screenshots they already carry and do not debug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5:00-7:00. Point in order at: the verdict bar reading BEHIND SCHEDULE AND OVERSPENT; the plain-language summary, read aloud, noting it quotes no index without the consequence beside it; CPI 0.872; then TCPI 1.051. If there is time for only one sentence in the whole demonstration it is the TCPI one: the remaining work must run at 1.051 having sustained 0.872 for six months, so the budget is gone and what remains is deciding who absorbs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7:00-9:00. A project CPI of 0.872 says something is wrong but does not say what to do. Point at Excavation: CPI 0.689 and 100 per cent complete, so that variance is final. Then the frame packages at 22 and 14 per cent, which can still move. 38 lakh of the 51.20 lakh is in completed substructure and only 7.7 lakh is live. The management action is the opposite of what a single project index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9:00-10:30. SPI reads 0.863 and there is a structural problem with that number. Since EV and PV both converge on BAC, SPI returns to 1.00 on every project however late - the index gets more reassuring as the project gets later. Earned Schedule asks when on the baseline this much value was scheduled to have been earned, which gives 19 days behind. Also point at CPI flat across all six periods: that is the strongest argument against an optimistic recovery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10:30-11:30. Four methods, 14.51 crore to 17.98 crore. We deliberately do not pick one: they differ in a single assumption about the remaining work, and the 3.47 crore spread is the method being honest. Narrowing it needs a judgement nobody can make arithmetically - was the rock a closed event or a symptom of a site that was never properly investigated. Then go back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11:30-13:00. 50 of 50 comparisons agree to a paisa on currency and 1e-9 on the indices, across both periods, plus 150 automated tests whose expected values were hand-derived before the engine was written. The critical decision was not to write a second Python implementation: that validates only your own understanding, because a misread formula is misread identically on both sides and the check passes. The benchmark is in a different execution environment and it is executed, not re-implemented.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13:00-14:00. Four discrepancies, all in the validation report. Two of them were defects in the check rather than in the thing being checked - our hand calculation of EAC3, and two mis-constructed tests. The second matters most: the fast route to a green test suite was to change the engine until the tests passed, and that would have removed a correct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14:00-15:00. The closing point - do not rush it. Both implementations read the same inputs, so if a package is reported 60 per cent complete when it is really 40, the engine computes a wrong EV, the benchmark computes the same wrong EV, all 50 comparisons agree, and every index is confidently wrong. We validated the arithmetic to nine decimal places and the arithmetic was never the risk. Everything in this project, including all of our work, is arithmetic on top of a judgement made by a person standing on a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1508760"/>
            <a:ext cx="9052560" cy="13716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566928" y="2926080"/>
            <a:ext cx="9052560" cy="457200"/>
          </a:xfrm>
          <a:prstGeom prst="rect">
            <a:avLst/>
          </a:prstGeom>
          <a:noFill/>
          <a:ln/>
        </p:spPr>
        <p:txBody>
          <a:bodyPr wrap="square" rtlCol="0"/>
          <a:lstStyle>
            <a:lvl1pPr indent="0" marL="0">
              <a:buNone/>
              <a:defRPr lang="en-US" sz="1600" dirty="0">
                <a:solidFill>
                  <a:srgbClr val="A8B2B8"/>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66928" y="6355080"/>
            <a:ext cx="8412480" cy="274320"/>
          </a:xfrm>
          <a:prstGeom prst="rect">
            <a:avLst/>
          </a:prstGeom>
          <a:noFill/>
          <a:ln/>
        </p:spPr>
        <p:txBody>
          <a:bodyPr wrap="square" lIns="0" tIns="0" rIns="0" bIns="0" rtlCol="0" anchor="ctr"/>
          <a:lstStyle/>
          <a:p>
            <a:pPr indent="0" marL="0">
              <a:buNone/>
            </a:pPr>
            <a:r>
              <a:rPr lang="en-US" sz="900" dirty="0">
                <a:solidFill>
                  <a:srgbClr val="A8B2B8"/>
                </a:solidFill>
              </a:rPr>
              <a:t>Team 40  ·  CE725 Topic 7  ·  Earned Value Management Dashboard</a:t>
            </a:r>
            <a:endParaRPr lang="en-US" sz="9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txBox="1"/>
          <p:nvPr/>
        </p:nvSpPr>
        <p:spPr>
          <a:xfrm>
            <a:off x="566928" y="6355080"/>
            <a:ext cx="8412480" cy="274320"/>
          </a:xfrm>
          <a:prstGeom prst="rect">
            <a:avLst/>
          </a:prstGeom>
          <a:noFill/>
          <a:ln/>
        </p:spPr>
        <p:txBody>
          <a:bodyPr wrap="square" lIns="0" tIns="0" rIns="0" bIns="0" rtlCol="0" anchor="ctr"/>
          <a:lstStyle/>
          <a:p>
            <a:pPr indent="0" marL="0">
              <a:buNone/>
            </a:pPr>
            <a:r>
              <a:rPr lang="en-US" sz="900" dirty="0">
                <a:solidFill>
                  <a:srgbClr val="7D8E97"/>
                </a:solidFill>
              </a:rPr>
              <a:t>Team 40  ·  CE725 Topic 7  ·  Earned Value Management Dashboard</a:t>
            </a:r>
            <a:endParaRPr lang="en-US" sz="9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D8E97"/>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66928" y="1508760"/>
            <a:ext cx="9052560" cy="1371600"/>
          </a:xfrm>
          <a:prstGeom prst="rect">
            <a:avLst/>
          </a:prstGeom>
          <a:noFill/>
          <a:ln/>
        </p:spPr>
        <p:txBody>
          <a:bodyPr wrap="square" lIns="0" tIns="0" rIns="0" bIns="0" rtlCol="0" anchor="b"/>
          <a:lstStyle/>
          <a:p>
            <a:pPr algn="l" indent="0" marL="0">
              <a:buNone/>
            </a:pPr>
            <a:r>
              <a:rPr lang="en-US" sz="4200" b="1" dirty="0">
                <a:solidFill>
                  <a:schemeClr val="bg1"/>
                </a:solidFill>
              </a:rPr>
              <a:t>Earned Value Management Dashboard</a:t>
            </a:r>
            <a:endParaRPr lang="en-US" sz="4200" dirty="0"/>
          </a:p>
        </p:txBody>
      </p:sp>
      <p:sp>
        <p:nvSpPr>
          <p:cNvPr id="3" name="Text 0"/>
          <p:cNvSpPr/>
          <p:nvPr>
            <p:ph idx="101" type="body" hasCustomPrompt="1"/>
          </p:nvPr>
        </p:nvSpPr>
        <p:spPr>
          <a:xfrm>
            <a:off x="566928" y="2926080"/>
            <a:ext cx="9052560" cy="457200"/>
          </a:xfrm>
          <a:prstGeom prst="rect">
            <a:avLst/>
          </a:prstGeom>
          <a:noFill/>
          <a:ln/>
        </p:spPr>
        <p:txBody>
          <a:bodyPr wrap="square" lIns="0" tIns="0" rIns="0" bIns="0" rtlCol="0" anchor="t"/>
          <a:lstStyle/>
          <a:p>
            <a:pPr indent="0" marL="0">
              <a:buNone/>
            </a:pPr>
            <a:r>
              <a:rPr lang="en-US" sz="1600" dirty="0">
                <a:solidFill>
                  <a:srgbClr val="A8B2B8"/>
                </a:solidFill>
              </a:rPr>
              <a:t>Construction Economics and Finance  ·  CE725  ·  Topic 7</a:t>
            </a:r>
            <a:endParaRPr lang="en-US" sz="1600" dirty="0"/>
          </a:p>
        </p:txBody>
      </p:sp>
      <p:sp>
        <p:nvSpPr>
          <p:cNvPr id="4" name="team"/>
          <p:cNvSpPr txBox="1"/>
          <p:nvPr/>
        </p:nvSpPr>
        <p:spPr>
          <a:xfrm>
            <a:off x="566928" y="3401568"/>
            <a:ext cx="10241280" cy="310896"/>
          </a:xfrm>
          <a:prstGeom prst="rect">
            <a:avLst/>
          </a:prstGeom>
          <a:noFill/>
          <a:ln/>
        </p:spPr>
        <p:txBody>
          <a:bodyPr wrap="square" lIns="0" tIns="0" rIns="0" bIns="0" rtlCol="0" anchor="ctr"/>
          <a:lstStyle/>
          <a:p>
            <a:pPr indent="0" marL="0">
              <a:buNone/>
            </a:pPr>
            <a:r>
              <a:rPr lang="en-US" sz="1300" dirty="0">
                <a:solidFill>
                  <a:schemeClr val="bg1"/>
                </a:solidFill>
              </a:rPr>
              <a:t>Team 40    Sajjad Nakhwa  ·  Dependar Arya  ·  Neel Shah  ·  Akshat Karkar  ·  Pearsh Gumasta</a:t>
            </a:r>
            <a:endParaRPr lang="en-US" sz="1300" dirty="0"/>
          </a:p>
        </p:txBody>
      </p:sp>
      <p:sp>
        <p:nvSpPr>
          <p:cNvPr id="5" name="chip0"/>
          <p:cNvSpPr/>
          <p:nvPr/>
        </p:nvSpPr>
        <p:spPr>
          <a:xfrm>
            <a:off x="566928" y="4572000"/>
            <a:ext cx="3456432" cy="1298448"/>
          </a:xfrm>
          <a:prstGeom prst="roundRect">
            <a:avLst>
              <a:gd name="adj" fmla="val 4225"/>
            </a:avLst>
          </a:prstGeom>
          <a:solidFill>
            <a:srgbClr val="3E5660"/>
          </a:solidFill>
          <a:ln/>
          <a:effectLst>
            <a:outerShdw sx="100000" sy="100000" kx="0" ky="0" algn="bl" rotWithShape="0" blurRad="101600" dist="25400" dir="5400000">
              <a:srgbClr val="1C262B">
                <a:alpha val="10000"/>
              </a:srgbClr>
            </a:outerShdw>
          </a:effectLst>
        </p:spPr>
      </p:sp>
      <p:sp>
        <p:nvSpPr>
          <p:cNvPr id="6" name="Text 4"/>
          <p:cNvSpPr txBox="1"/>
          <p:nvPr/>
        </p:nvSpPr>
        <p:spPr>
          <a:xfrm>
            <a:off x="841248" y="4709160"/>
            <a:ext cx="2926080" cy="634959"/>
          </a:xfrm>
          <a:prstGeom prst="rect">
            <a:avLst/>
          </a:prstGeom>
          <a:noFill/>
          <a:ln/>
        </p:spPr>
        <p:txBody>
          <a:bodyPr wrap="square" lIns="0" tIns="0" rIns="0" bIns="0" rtlCol="0" anchor="b"/>
          <a:lstStyle/>
          <a:p>
            <a:pPr algn="l" indent="0" marL="0">
              <a:buNone/>
            </a:pPr>
            <a:r>
              <a:rPr lang="en-US" sz="2600" b="1" dirty="0">
                <a:solidFill>
                  <a:schemeClr val="bg1"/>
                </a:solidFill>
                <a:latin typeface="Cambria" pitchFamily="34" charset="0"/>
                <a:ea typeface="Cambria" pitchFamily="34" charset="-122"/>
                <a:cs typeface="Cambria" pitchFamily="34" charset="-120"/>
              </a:rPr>
              <a:t>₹14.00 Cr</a:t>
            </a:r>
            <a:endParaRPr lang="en-US" sz="2600" dirty="0"/>
          </a:p>
        </p:txBody>
      </p:sp>
      <p:sp>
        <p:nvSpPr>
          <p:cNvPr id="7" name="Text 5"/>
          <p:cNvSpPr txBox="1"/>
          <p:nvPr/>
        </p:nvSpPr>
        <p:spPr>
          <a:xfrm>
            <a:off x="841248" y="5344119"/>
            <a:ext cx="2926080" cy="389169"/>
          </a:xfrm>
          <a:prstGeom prst="rect">
            <a:avLst/>
          </a:prstGeom>
          <a:noFill/>
          <a:ln/>
        </p:spPr>
        <p:txBody>
          <a:bodyPr wrap="square" lIns="0" tIns="0" rIns="0" bIns="0" rtlCol="0" anchor="t"/>
          <a:lstStyle/>
          <a:p>
            <a:pPr algn="l" indent="0" marL="0">
              <a:buNone/>
            </a:pPr>
            <a:r>
              <a:rPr lang="en-US" sz="1150" dirty="0">
                <a:solidFill>
                  <a:srgbClr val="A8B2B8"/>
                </a:solidFill>
              </a:rPr>
              <a:t>project budget at completion</a:t>
            </a:r>
            <a:endParaRPr lang="en-US" sz="1150" dirty="0"/>
          </a:p>
        </p:txBody>
      </p:sp>
      <p:sp>
        <p:nvSpPr>
          <p:cNvPr id="8" name="chip1"/>
          <p:cNvSpPr/>
          <p:nvPr/>
        </p:nvSpPr>
        <p:spPr>
          <a:xfrm>
            <a:off x="4279392" y="4572000"/>
            <a:ext cx="3456432" cy="1298448"/>
          </a:xfrm>
          <a:prstGeom prst="roundRect">
            <a:avLst>
              <a:gd name="adj" fmla="val 4225"/>
            </a:avLst>
          </a:prstGeom>
          <a:solidFill>
            <a:srgbClr val="3E5660"/>
          </a:solidFill>
          <a:ln/>
          <a:effectLst>
            <a:outerShdw sx="100000" sy="100000" kx="0" ky="0" algn="bl" rotWithShape="0" blurRad="101600" dist="25400" dir="5400000">
              <a:srgbClr val="1C262B">
                <a:alpha val="10000"/>
              </a:srgbClr>
            </a:outerShdw>
          </a:effectLst>
        </p:spPr>
      </p:sp>
      <p:sp>
        <p:nvSpPr>
          <p:cNvPr id="9" name="Text 7"/>
          <p:cNvSpPr txBox="1"/>
          <p:nvPr/>
        </p:nvSpPr>
        <p:spPr>
          <a:xfrm>
            <a:off x="4553712" y="4709160"/>
            <a:ext cx="2926080" cy="634959"/>
          </a:xfrm>
          <a:prstGeom prst="rect">
            <a:avLst/>
          </a:prstGeom>
          <a:noFill/>
          <a:ln/>
        </p:spPr>
        <p:txBody>
          <a:bodyPr wrap="square" lIns="0" tIns="0" rIns="0" bIns="0" rtlCol="0" anchor="b"/>
          <a:lstStyle/>
          <a:p>
            <a:pPr algn="l" indent="0" marL="0">
              <a:buNone/>
            </a:pPr>
            <a:r>
              <a:rPr lang="en-US" sz="2600" b="1" dirty="0">
                <a:solidFill>
                  <a:schemeClr val="bg1"/>
                </a:solidFill>
                <a:latin typeface="Cambria" pitchFamily="34" charset="0"/>
                <a:ea typeface="Cambria" pitchFamily="34" charset="-122"/>
                <a:cs typeface="Cambria" pitchFamily="34" charset="-120"/>
              </a:rPr>
              <a:t>19</a:t>
            </a:r>
            <a:endParaRPr lang="en-US" sz="2600" dirty="0"/>
          </a:p>
        </p:txBody>
      </p:sp>
      <p:sp>
        <p:nvSpPr>
          <p:cNvPr id="10" name="Text 8"/>
          <p:cNvSpPr txBox="1"/>
          <p:nvPr/>
        </p:nvSpPr>
        <p:spPr>
          <a:xfrm>
            <a:off x="4553712" y="5344119"/>
            <a:ext cx="2926080" cy="389169"/>
          </a:xfrm>
          <a:prstGeom prst="rect">
            <a:avLst/>
          </a:prstGeom>
          <a:noFill/>
          <a:ln/>
        </p:spPr>
        <p:txBody>
          <a:bodyPr wrap="square" lIns="0" tIns="0" rIns="0" bIns="0" rtlCol="0" anchor="t"/>
          <a:lstStyle/>
          <a:p>
            <a:pPr algn="l" indent="0" marL="0">
              <a:buNone/>
            </a:pPr>
            <a:r>
              <a:rPr lang="en-US" sz="1150" dirty="0">
                <a:solidFill>
                  <a:srgbClr val="A8B2B8"/>
                </a:solidFill>
              </a:rPr>
              <a:t>work packages tracked individually</a:t>
            </a:r>
            <a:endParaRPr lang="en-US" sz="1150" dirty="0"/>
          </a:p>
        </p:txBody>
      </p:sp>
      <p:sp>
        <p:nvSpPr>
          <p:cNvPr id="11" name="chip2"/>
          <p:cNvSpPr/>
          <p:nvPr/>
        </p:nvSpPr>
        <p:spPr>
          <a:xfrm>
            <a:off x="7991856" y="4572000"/>
            <a:ext cx="3456432" cy="1298448"/>
          </a:xfrm>
          <a:prstGeom prst="roundRect">
            <a:avLst>
              <a:gd name="adj" fmla="val 4225"/>
            </a:avLst>
          </a:prstGeom>
          <a:solidFill>
            <a:srgbClr val="3E5660"/>
          </a:solidFill>
          <a:ln/>
          <a:effectLst>
            <a:outerShdw sx="100000" sy="100000" kx="0" ky="0" algn="bl" rotWithShape="0" blurRad="101600" dist="25400" dir="5400000">
              <a:srgbClr val="1C262B">
                <a:alpha val="10000"/>
              </a:srgbClr>
            </a:outerShdw>
          </a:effectLst>
        </p:spPr>
      </p:sp>
      <p:sp>
        <p:nvSpPr>
          <p:cNvPr id="12" name="Text 10"/>
          <p:cNvSpPr txBox="1"/>
          <p:nvPr/>
        </p:nvSpPr>
        <p:spPr>
          <a:xfrm>
            <a:off x="8266176" y="4709160"/>
            <a:ext cx="2926080" cy="634959"/>
          </a:xfrm>
          <a:prstGeom prst="rect">
            <a:avLst/>
          </a:prstGeom>
          <a:noFill/>
          <a:ln/>
        </p:spPr>
        <p:txBody>
          <a:bodyPr wrap="square" lIns="0" tIns="0" rIns="0" bIns="0" rtlCol="0" anchor="b"/>
          <a:lstStyle/>
          <a:p>
            <a:pPr algn="l" indent="0" marL="0">
              <a:buNone/>
            </a:pPr>
            <a:r>
              <a:rPr lang="en-US" sz="2600" b="1" dirty="0">
                <a:solidFill>
                  <a:schemeClr val="bg1"/>
                </a:solidFill>
                <a:latin typeface="Cambria" pitchFamily="34" charset="0"/>
                <a:ea typeface="Cambria" pitchFamily="34" charset="-122"/>
                <a:cs typeface="Cambria" pitchFamily="34" charset="-120"/>
              </a:rPr>
              <a:t>50 / 50</a:t>
            </a:r>
            <a:endParaRPr lang="en-US" sz="2600" dirty="0"/>
          </a:p>
        </p:txBody>
      </p:sp>
      <p:sp>
        <p:nvSpPr>
          <p:cNvPr id="13" name="Text 11"/>
          <p:cNvSpPr txBox="1"/>
          <p:nvPr/>
        </p:nvSpPr>
        <p:spPr>
          <a:xfrm>
            <a:off x="8266176" y="5344119"/>
            <a:ext cx="2926080" cy="389169"/>
          </a:xfrm>
          <a:prstGeom prst="rect">
            <a:avLst/>
          </a:prstGeom>
          <a:noFill/>
          <a:ln/>
        </p:spPr>
        <p:txBody>
          <a:bodyPr wrap="square" lIns="0" tIns="0" rIns="0" bIns="0" rtlCol="0" anchor="t"/>
          <a:lstStyle/>
          <a:p>
            <a:pPr algn="l" indent="0" marL="0">
              <a:buNone/>
            </a:pPr>
            <a:r>
              <a:rPr lang="en-US" sz="1150" dirty="0">
                <a:solidFill>
                  <a:srgbClr val="A8B2B8"/>
                </a:solidFill>
              </a:rPr>
              <a:t>independent benchmark comparisons agree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The problem, in one number</a:t>
            </a:r>
            <a:endParaRPr lang="en-US" sz="3200" dirty="0"/>
          </a:p>
        </p:txBody>
      </p:sp>
      <p:sp>
        <p:nvSpPr>
          <p:cNvPr id="3" name="pec0"/>
          <p:cNvSpPr/>
          <p:nvPr/>
        </p:nvSpPr>
        <p:spPr>
          <a:xfrm>
            <a:off x="566928" y="1298448"/>
            <a:ext cx="3456432" cy="1591056"/>
          </a:xfrm>
          <a:prstGeom prst="roundRect">
            <a:avLst>
              <a:gd name="adj" fmla="val 3448"/>
            </a:avLst>
          </a:prstGeom>
          <a:solidFill>
            <a:schemeClr val="bg2"/>
          </a:solidFill>
          <a:ln/>
          <a:effectLst>
            <a:outerShdw sx="100000" sy="100000" kx="0" ky="0" algn="bl" rotWithShape="0" blurRad="101600" dist="25400" dir="5400000">
              <a:srgbClr val="1C262B">
                <a:alpha val="10000"/>
              </a:srgbClr>
            </a:outerShdw>
          </a:effectLst>
        </p:spPr>
      </p:sp>
      <p:sp>
        <p:nvSpPr>
          <p:cNvPr id="4" name="Text 2"/>
          <p:cNvSpPr txBox="1"/>
          <p:nvPr/>
        </p:nvSpPr>
        <p:spPr>
          <a:xfrm>
            <a:off x="859536" y="1444752"/>
            <a:ext cx="2871216" cy="805038"/>
          </a:xfrm>
          <a:prstGeom prst="rect">
            <a:avLst/>
          </a:prstGeom>
          <a:noFill/>
          <a:ln/>
        </p:spPr>
        <p:txBody>
          <a:bodyPr wrap="square" lIns="0" tIns="0" rIns="0" bIns="0" rtlCol="0" anchor="b"/>
          <a:lstStyle/>
          <a:p>
            <a:pPr algn="l" indent="0" marL="0">
              <a:buNone/>
            </a:pPr>
            <a:r>
              <a:rPr lang="en-US" sz="3400" b="1" dirty="0">
                <a:solidFill>
                  <a:srgbClr val="3E5660"/>
                </a:solidFill>
                <a:latin typeface="Cambria" pitchFamily="34" charset="0"/>
                <a:ea typeface="Cambria" pitchFamily="34" charset="-122"/>
                <a:cs typeface="Cambria" pitchFamily="34" charset="-120"/>
              </a:rPr>
              <a:t>₹4.02 Cr</a:t>
            </a:r>
            <a:endParaRPr lang="en-US" sz="3400" dirty="0"/>
          </a:p>
        </p:txBody>
      </p:sp>
      <p:sp>
        <p:nvSpPr>
          <p:cNvPr id="5" name="Text 3"/>
          <p:cNvSpPr txBox="1"/>
          <p:nvPr/>
        </p:nvSpPr>
        <p:spPr>
          <a:xfrm>
            <a:off x="859536" y="2249790"/>
            <a:ext cx="2871216" cy="493410"/>
          </a:xfrm>
          <a:prstGeom prst="rect">
            <a:avLst/>
          </a:prstGeom>
          <a:noFill/>
          <a:ln/>
        </p:spPr>
        <p:txBody>
          <a:bodyPr wrap="square" lIns="0" tIns="0" rIns="0" bIns="0" rtlCol="0" anchor="t"/>
          <a:lstStyle/>
          <a:p>
            <a:pPr algn="l" indent="0" marL="0">
              <a:buNone/>
            </a:pPr>
            <a:r>
              <a:rPr lang="en-US" sz="1150" dirty="0">
                <a:solidFill>
                  <a:srgbClr val="7D8E97"/>
                </a:solidFill>
              </a:rPr>
              <a:t>PLANNED VALUE</a:t>
            </a:r>
            <a:endParaRPr lang="en-US" sz="1150" dirty="0"/>
          </a:p>
          <a:p>
            <a:pPr algn="l" indent="0" marL="0">
              <a:buNone/>
            </a:pPr>
            <a:r>
              <a:rPr lang="en-US" sz="1150" dirty="0">
                <a:solidFill>
                  <a:srgbClr val="7D8E97"/>
                </a:solidFill>
              </a:rPr>
              <a:t>what should have been done</a:t>
            </a:r>
            <a:endParaRPr lang="en-US" sz="1150" dirty="0"/>
          </a:p>
        </p:txBody>
      </p:sp>
      <p:sp>
        <p:nvSpPr>
          <p:cNvPr id="6" name="pec1"/>
          <p:cNvSpPr/>
          <p:nvPr/>
        </p:nvSpPr>
        <p:spPr>
          <a:xfrm>
            <a:off x="4279392" y="1298448"/>
            <a:ext cx="3456432" cy="1591056"/>
          </a:xfrm>
          <a:prstGeom prst="roundRect">
            <a:avLst>
              <a:gd name="adj" fmla="val 3448"/>
            </a:avLst>
          </a:prstGeom>
          <a:solidFill>
            <a:schemeClr val="bg2"/>
          </a:solidFill>
          <a:ln/>
          <a:effectLst>
            <a:outerShdw sx="100000" sy="100000" kx="0" ky="0" algn="bl" rotWithShape="0" blurRad="101600" dist="25400" dir="5400000">
              <a:srgbClr val="1C262B">
                <a:alpha val="10000"/>
              </a:srgbClr>
            </a:outerShdw>
          </a:effectLst>
        </p:spPr>
      </p:sp>
      <p:sp>
        <p:nvSpPr>
          <p:cNvPr id="7" name="Text 5"/>
          <p:cNvSpPr txBox="1"/>
          <p:nvPr/>
        </p:nvSpPr>
        <p:spPr>
          <a:xfrm>
            <a:off x="4572000" y="1444752"/>
            <a:ext cx="2871216" cy="805038"/>
          </a:xfrm>
          <a:prstGeom prst="rect">
            <a:avLst/>
          </a:prstGeom>
          <a:noFill/>
          <a:ln/>
        </p:spPr>
        <p:txBody>
          <a:bodyPr wrap="square" lIns="0" tIns="0" rIns="0" bIns="0" rtlCol="0" anchor="b"/>
          <a:lstStyle/>
          <a:p>
            <a:pPr algn="l" indent="0" marL="0">
              <a:buNone/>
            </a:pPr>
            <a:r>
              <a:rPr lang="en-US" sz="3400" b="1" dirty="0">
                <a:solidFill>
                  <a:srgbClr val="3E5660"/>
                </a:solidFill>
                <a:latin typeface="Cambria" pitchFamily="34" charset="0"/>
                <a:ea typeface="Cambria" pitchFamily="34" charset="-122"/>
                <a:cs typeface="Cambria" pitchFamily="34" charset="-120"/>
              </a:rPr>
              <a:t>₹3.98 Cr</a:t>
            </a:r>
            <a:endParaRPr lang="en-US" sz="3400" dirty="0"/>
          </a:p>
        </p:txBody>
      </p:sp>
      <p:sp>
        <p:nvSpPr>
          <p:cNvPr id="8" name="Text 6"/>
          <p:cNvSpPr txBox="1"/>
          <p:nvPr/>
        </p:nvSpPr>
        <p:spPr>
          <a:xfrm>
            <a:off x="4572000" y="2249790"/>
            <a:ext cx="2871216" cy="493410"/>
          </a:xfrm>
          <a:prstGeom prst="rect">
            <a:avLst/>
          </a:prstGeom>
          <a:noFill/>
          <a:ln/>
        </p:spPr>
        <p:txBody>
          <a:bodyPr wrap="square" lIns="0" tIns="0" rIns="0" bIns="0" rtlCol="0" anchor="t"/>
          <a:lstStyle/>
          <a:p>
            <a:pPr algn="l" indent="0" marL="0">
              <a:buNone/>
            </a:pPr>
            <a:r>
              <a:rPr lang="en-US" sz="1150" dirty="0">
                <a:solidFill>
                  <a:srgbClr val="7D8E97"/>
                </a:solidFill>
              </a:rPr>
              <a:t>ACTUAL COST</a:t>
            </a:r>
            <a:endParaRPr lang="en-US" sz="1150" dirty="0"/>
          </a:p>
          <a:p>
            <a:pPr algn="l" indent="0" marL="0">
              <a:buNone/>
            </a:pPr>
            <a:r>
              <a:rPr lang="en-US" sz="1150" dirty="0">
                <a:solidFill>
                  <a:srgbClr val="7D8E97"/>
                </a:solidFill>
              </a:rPr>
              <a:t>what it has cost</a:t>
            </a:r>
            <a:endParaRPr lang="en-US" sz="1150" dirty="0"/>
          </a:p>
        </p:txBody>
      </p:sp>
      <p:sp>
        <p:nvSpPr>
          <p:cNvPr id="9" name="pec2"/>
          <p:cNvSpPr/>
          <p:nvPr/>
        </p:nvSpPr>
        <p:spPr>
          <a:xfrm>
            <a:off x="7991856" y="1298448"/>
            <a:ext cx="3456432" cy="1591056"/>
          </a:xfrm>
          <a:prstGeom prst="roundRect">
            <a:avLst>
              <a:gd name="adj" fmla="val 3448"/>
            </a:avLst>
          </a:prstGeom>
          <a:solidFill>
            <a:srgbClr val="C1553B"/>
          </a:solidFill>
          <a:ln/>
          <a:effectLst>
            <a:outerShdw sx="100000" sy="100000" kx="0" ky="0" algn="bl" rotWithShape="0" blurRad="101600" dist="25400" dir="5400000">
              <a:srgbClr val="1C262B">
                <a:alpha val="10000"/>
              </a:srgbClr>
            </a:outerShdw>
          </a:effectLst>
        </p:spPr>
      </p:sp>
      <p:sp>
        <p:nvSpPr>
          <p:cNvPr id="10" name="Text 8"/>
          <p:cNvSpPr txBox="1"/>
          <p:nvPr/>
        </p:nvSpPr>
        <p:spPr>
          <a:xfrm>
            <a:off x="8284464" y="1444752"/>
            <a:ext cx="2871216" cy="805038"/>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₹3.47 Cr</a:t>
            </a:r>
            <a:endParaRPr lang="en-US" sz="3400" dirty="0"/>
          </a:p>
        </p:txBody>
      </p:sp>
      <p:sp>
        <p:nvSpPr>
          <p:cNvPr id="11" name="Text 9"/>
          <p:cNvSpPr txBox="1"/>
          <p:nvPr/>
        </p:nvSpPr>
        <p:spPr>
          <a:xfrm>
            <a:off x="8284464" y="2249790"/>
            <a:ext cx="2871216" cy="493410"/>
          </a:xfrm>
          <a:prstGeom prst="rect">
            <a:avLst/>
          </a:prstGeom>
          <a:noFill/>
          <a:ln/>
        </p:spPr>
        <p:txBody>
          <a:bodyPr wrap="square" lIns="0" tIns="0" rIns="0" bIns="0" rtlCol="0" anchor="t"/>
          <a:lstStyle/>
          <a:p>
            <a:pPr algn="l" indent="0" marL="0">
              <a:buNone/>
            </a:pPr>
            <a:r>
              <a:rPr lang="en-US" sz="1150" dirty="0">
                <a:solidFill>
                  <a:srgbClr val="F3DED8"/>
                </a:solidFill>
              </a:rPr>
              <a:t>EARNED VALUE</a:t>
            </a:r>
            <a:endParaRPr lang="en-US" sz="1150" dirty="0"/>
          </a:p>
          <a:p>
            <a:pPr algn="l" indent="0" marL="0">
              <a:buNone/>
            </a:pPr>
            <a:r>
              <a:rPr lang="en-US" sz="1150" dirty="0">
                <a:solidFill>
                  <a:srgbClr val="F3DED8"/>
                </a:solidFill>
              </a:rPr>
              <a:t>what was actually done</a:t>
            </a:r>
            <a:endParaRPr lang="en-US" sz="1150" dirty="0"/>
          </a:p>
        </p:txBody>
      </p:sp>
      <p:sp>
        <p:nvSpPr>
          <p:cNvPr id="12" name="pivot"/>
          <p:cNvSpPr txBox="1"/>
          <p:nvPr/>
        </p:nvSpPr>
        <p:spPr>
          <a:xfrm>
            <a:off x="566928" y="3127248"/>
            <a:ext cx="10881360" cy="548640"/>
          </a:xfrm>
          <a:prstGeom prst="rect">
            <a:avLst/>
          </a:prstGeom>
          <a:noFill/>
          <a:ln/>
        </p:spPr>
        <p:txBody>
          <a:bodyPr wrap="square" lIns="0" tIns="0" rIns="0" bIns="0" rtlCol="0" anchor="t"/>
          <a:lstStyle/>
          <a:p>
            <a:pPr indent="0" marL="0">
              <a:buNone/>
            </a:pPr>
            <a:r>
              <a:rPr lang="en-US" sz="1500" dirty="0">
                <a:solidFill>
                  <a:schemeClr val="tx1"/>
                </a:solidFill>
              </a:rPr>
              <a:t>Spend is under plan by ₹4 lakh, so the monthly report writes itself as healthy.</a:t>
            </a:r>
            <a:endParaRPr lang="en-US" sz="1500" dirty="0"/>
          </a:p>
          <a:p>
            <a:pPr indent="0" marL="0">
              <a:buNone/>
            </a:pPr>
            <a:r>
              <a:rPr lang="en-US" sz="1500" dirty="0">
                <a:solidFill>
                  <a:schemeClr val="tx1"/>
                </a:solidFill>
              </a:rPr>
              <a:t>The two errors point in opposite directions and cancel.</a:t>
            </a:r>
            <a:endParaRPr lang="en-US" sz="1500" dirty="0"/>
          </a:p>
        </p:txBody>
      </p:sp>
      <p:sp>
        <p:nvSpPr>
          <p:cNvPr id="13" name="warn0"/>
          <p:cNvSpPr/>
          <p:nvPr/>
        </p:nvSpPr>
        <p:spPr>
          <a:xfrm>
            <a:off x="566928" y="3877056"/>
            <a:ext cx="420624" cy="420624"/>
          </a:xfrm>
          <a:prstGeom prst="ellipse">
            <a:avLst/>
          </a:prstGeom>
          <a:solidFill>
            <a:srgbClr val="C1553B"/>
          </a:solidFill>
          <a:ln/>
        </p:spPr>
      </p:sp>
      <p:sp>
        <p:nvSpPr>
          <p:cNvPr id="14" name="Text 12"/>
          <p:cNvSpPr txBox="1"/>
          <p:nvPr/>
        </p:nvSpPr>
        <p:spPr>
          <a:xfrm>
            <a:off x="566928" y="38770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5" name="Text 13"/>
          <p:cNvSpPr txBox="1"/>
          <p:nvPr/>
        </p:nvSpPr>
        <p:spPr>
          <a:xfrm>
            <a:off x="1152144" y="3840480"/>
            <a:ext cx="4846320" cy="384048"/>
          </a:xfrm>
          <a:prstGeom prst="rect">
            <a:avLst/>
          </a:prstGeom>
          <a:noFill/>
          <a:ln/>
        </p:spPr>
        <p:txBody>
          <a:bodyPr wrap="square" lIns="0" tIns="0" rIns="0" bIns="0" rtlCol="0" anchor="ctr"/>
          <a:lstStyle/>
          <a:p>
            <a:pPr indent="0" marL="0">
              <a:buNone/>
            </a:pPr>
            <a:r>
              <a:rPr lang="en-US" sz="2100" b="1" dirty="0">
                <a:solidFill>
                  <a:srgbClr val="C1553B"/>
                </a:solidFill>
                <a:latin typeface="Cambria" pitchFamily="34" charset="0"/>
                <a:ea typeface="Cambria" pitchFamily="34" charset="-122"/>
                <a:cs typeface="Cambria" pitchFamily="34" charset="-120"/>
              </a:rPr>
              <a:t>14.7% over budget</a:t>
            </a:r>
            <a:endParaRPr lang="en-US" sz="2100" dirty="0"/>
          </a:p>
        </p:txBody>
      </p:sp>
      <p:sp>
        <p:nvSpPr>
          <p:cNvPr id="16" name="Text 14"/>
          <p:cNvSpPr txBox="1"/>
          <p:nvPr/>
        </p:nvSpPr>
        <p:spPr>
          <a:xfrm>
            <a:off x="1152144" y="4242816"/>
            <a:ext cx="4846320" cy="329184"/>
          </a:xfrm>
          <a:prstGeom prst="rect">
            <a:avLst/>
          </a:prstGeom>
          <a:noFill/>
          <a:ln/>
        </p:spPr>
        <p:txBody>
          <a:bodyPr wrap="square" lIns="0" tIns="0" rIns="0" bIns="0" rtlCol="0" anchor="t"/>
          <a:lstStyle/>
          <a:p>
            <a:pPr indent="0" marL="0">
              <a:buNone/>
            </a:pPr>
            <a:r>
              <a:rPr lang="en-US" sz="1200" dirty="0">
                <a:solidFill>
                  <a:srgbClr val="7D8E97"/>
                </a:solidFill>
              </a:rPr>
              <a:t>every rupee spent returns 87 paise of budgeted work</a:t>
            </a:r>
            <a:endParaRPr lang="en-US" sz="1200" dirty="0"/>
          </a:p>
        </p:txBody>
      </p:sp>
      <p:sp>
        <p:nvSpPr>
          <p:cNvPr id="17" name="warn1"/>
          <p:cNvSpPr/>
          <p:nvPr/>
        </p:nvSpPr>
        <p:spPr>
          <a:xfrm>
            <a:off x="6144768" y="3877056"/>
            <a:ext cx="420624" cy="420624"/>
          </a:xfrm>
          <a:prstGeom prst="ellipse">
            <a:avLst/>
          </a:prstGeom>
          <a:solidFill>
            <a:srgbClr val="C1553B"/>
          </a:solidFill>
          <a:ln/>
        </p:spPr>
      </p:sp>
      <p:sp>
        <p:nvSpPr>
          <p:cNvPr id="18" name="Text 16"/>
          <p:cNvSpPr txBox="1"/>
          <p:nvPr/>
        </p:nvSpPr>
        <p:spPr>
          <a:xfrm>
            <a:off x="6144768" y="38770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9" name="Text 17"/>
          <p:cNvSpPr txBox="1"/>
          <p:nvPr/>
        </p:nvSpPr>
        <p:spPr>
          <a:xfrm>
            <a:off x="6729984" y="3840480"/>
            <a:ext cx="4846320" cy="384048"/>
          </a:xfrm>
          <a:prstGeom prst="rect">
            <a:avLst/>
          </a:prstGeom>
          <a:noFill/>
          <a:ln/>
        </p:spPr>
        <p:txBody>
          <a:bodyPr wrap="square" lIns="0" tIns="0" rIns="0" bIns="0" rtlCol="0" anchor="ctr"/>
          <a:lstStyle/>
          <a:p>
            <a:pPr indent="0" marL="0">
              <a:buNone/>
            </a:pPr>
            <a:r>
              <a:rPr lang="en-US" sz="2100" b="1" dirty="0">
                <a:solidFill>
                  <a:srgbClr val="C1553B"/>
                </a:solidFill>
                <a:latin typeface="Cambria" pitchFamily="34" charset="0"/>
                <a:ea typeface="Cambria" pitchFamily="34" charset="-122"/>
                <a:cs typeface="Cambria" pitchFamily="34" charset="-120"/>
              </a:rPr>
              <a:t>19 days behind programme</a:t>
            </a:r>
            <a:endParaRPr lang="en-US" sz="2100" dirty="0"/>
          </a:p>
        </p:txBody>
      </p:sp>
      <p:sp>
        <p:nvSpPr>
          <p:cNvPr id="20" name="Text 18"/>
          <p:cNvSpPr txBox="1"/>
          <p:nvPr/>
        </p:nvSpPr>
        <p:spPr>
          <a:xfrm>
            <a:off x="6729984" y="4242816"/>
            <a:ext cx="4846320" cy="329184"/>
          </a:xfrm>
          <a:prstGeom prst="rect">
            <a:avLst/>
          </a:prstGeom>
          <a:noFill/>
          <a:ln/>
        </p:spPr>
        <p:txBody>
          <a:bodyPr wrap="square" lIns="0" tIns="0" rIns="0" bIns="0" rtlCol="0" anchor="t"/>
          <a:lstStyle/>
          <a:p>
            <a:pPr indent="0" marL="0">
              <a:buNone/>
            </a:pPr>
            <a:r>
              <a:rPr lang="en-US" sz="1200" dirty="0">
                <a:solidFill>
                  <a:srgbClr val="7D8E97"/>
                </a:solidFill>
              </a:rPr>
              <a:t>measured in time, not as a dimensionless index</a:t>
            </a:r>
            <a:endParaRPr lang="en-US" sz="1200" dirty="0"/>
          </a:p>
        </p:txBody>
      </p:sp>
      <p:sp>
        <p:nvSpPr>
          <p:cNvPr id="21" name="kicker"/>
          <p:cNvSpPr/>
          <p:nvPr/>
        </p:nvSpPr>
        <p:spPr>
          <a:xfrm>
            <a:off x="566928" y="4892040"/>
            <a:ext cx="11055096" cy="1188720"/>
          </a:xfrm>
          <a:prstGeom prst="roundRect">
            <a:avLst>
              <a:gd name="adj" fmla="val 4615"/>
            </a:avLst>
          </a:prstGeom>
          <a:solidFill>
            <a:schemeClr val="bg2"/>
          </a:solidFill>
          <a:ln/>
          <a:effectLst>
            <a:outerShdw sx="100000" sy="100000" kx="0" ky="0" algn="bl" rotWithShape="0" blurRad="101600" dist="25400" dir="5400000">
              <a:srgbClr val="1C262B">
                <a:alpha val="10000"/>
              </a:srgbClr>
            </a:outerShdw>
          </a:effectLst>
        </p:spPr>
      </p:sp>
      <p:sp>
        <p:nvSpPr>
          <p:cNvPr id="22" name="Text 20"/>
          <p:cNvSpPr txBox="1"/>
          <p:nvPr/>
        </p:nvSpPr>
        <p:spPr>
          <a:xfrm>
            <a:off x="877824" y="5047488"/>
            <a:ext cx="10424160" cy="877824"/>
          </a:xfrm>
          <a:prstGeom prst="rect">
            <a:avLst/>
          </a:prstGeom>
          <a:noFill/>
          <a:ln/>
        </p:spPr>
        <p:txBody>
          <a:bodyPr wrap="square" lIns="0" tIns="0" rIns="0" bIns="0" rtlCol="0" anchor="ctr"/>
          <a:lstStyle/>
          <a:p>
            <a:pPr indent="0" marL="0">
              <a:buNone/>
            </a:pPr>
            <a:r>
              <a:rPr lang="en-US" sz="1450" b="1" dirty="0">
                <a:solidFill>
                  <a:schemeClr val="tx1"/>
                </a:solidFill>
              </a:rPr>
              <a:t>Budget against spend is two numbers, and two numbers give one comparison. </a:t>
            </a:r>
            <a:pPr indent="0" marL="0">
              <a:buNone/>
            </a:pPr>
            <a:r>
              <a:rPr lang="en-US" sz="1450" dirty="0">
                <a:solidFill>
                  <a:schemeClr val="tx1"/>
                </a:solidFill>
              </a:rPr>
              <a:t>Separating ‘am I doing the work’ from ‘is the work costing what it should’ needs a third measurement: the budgeted cost of the work actually performed.</a:t>
            </a:r>
            <a:endParaRPr lang="en-US" sz="145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Three measurements, and comparisons between them</a:t>
            </a:r>
            <a:endParaRPr lang="en-US" sz="3200" dirty="0"/>
          </a:p>
        </p:txBody>
      </p:sp>
      <p:sp>
        <p:nvSpPr>
          <p:cNvPr id="3" name="m0"/>
          <p:cNvSpPr/>
          <p:nvPr/>
        </p:nvSpPr>
        <p:spPr>
          <a:xfrm>
            <a:off x="566928" y="1371600"/>
            <a:ext cx="6309360" cy="1005840"/>
          </a:xfrm>
          <a:prstGeom prst="roundRect">
            <a:avLst>
              <a:gd name="adj" fmla="val 5455"/>
            </a:avLst>
          </a:prstGeom>
          <a:solidFill>
            <a:schemeClr val="bg2"/>
          </a:solidFill>
          <a:ln/>
          <a:effectLst>
            <a:outerShdw sx="100000" sy="100000" kx="0" ky="0" algn="bl" rotWithShape="0" blurRad="101600" dist="25400" dir="5400000">
              <a:srgbClr val="1C262B">
                <a:alpha val="10000"/>
              </a:srgbClr>
            </a:outerShdw>
          </a:effectLst>
        </p:spPr>
      </p:sp>
      <p:sp>
        <p:nvSpPr>
          <p:cNvPr id="4" name="mc0"/>
          <p:cNvSpPr/>
          <p:nvPr/>
        </p:nvSpPr>
        <p:spPr>
          <a:xfrm>
            <a:off x="841248" y="1636776"/>
            <a:ext cx="475488" cy="475488"/>
          </a:xfrm>
          <a:prstGeom prst="ellipse">
            <a:avLst/>
          </a:prstGeom>
          <a:solidFill>
            <a:srgbClr val="3E5660"/>
          </a:solidFill>
          <a:ln/>
        </p:spPr>
      </p:sp>
      <p:sp>
        <p:nvSpPr>
          <p:cNvPr id="5" name="Text 3"/>
          <p:cNvSpPr txBox="1"/>
          <p:nvPr/>
        </p:nvSpPr>
        <p:spPr>
          <a:xfrm>
            <a:off x="841248" y="163677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PV</a:t>
            </a:r>
            <a:endParaRPr lang="en-US" sz="1300" dirty="0"/>
          </a:p>
        </p:txBody>
      </p:sp>
      <p:sp>
        <p:nvSpPr>
          <p:cNvPr id="6" name="Text 4"/>
          <p:cNvSpPr txBox="1"/>
          <p:nvPr/>
        </p:nvSpPr>
        <p:spPr>
          <a:xfrm>
            <a:off x="1481328" y="1536192"/>
            <a:ext cx="5120640" cy="347472"/>
          </a:xfrm>
          <a:prstGeom prst="rect">
            <a:avLst/>
          </a:prstGeom>
          <a:noFill/>
          <a:ln/>
        </p:spPr>
        <p:txBody>
          <a:bodyPr wrap="square" lIns="0" tIns="0" rIns="0" bIns="0" rtlCol="0" anchor="ctr"/>
          <a:lstStyle/>
          <a:p>
            <a:pPr indent="0" marL="0">
              <a:buNone/>
            </a:pPr>
            <a:r>
              <a:rPr lang="en-US" sz="1500" b="1" dirty="0">
                <a:solidFill>
                  <a:schemeClr val="tx1"/>
                </a:solidFill>
              </a:rPr>
              <a:t>Budgeted cost of work scheduled</a:t>
            </a:r>
            <a:endParaRPr lang="en-US" sz="1500" dirty="0"/>
          </a:p>
        </p:txBody>
      </p:sp>
      <p:sp>
        <p:nvSpPr>
          <p:cNvPr id="7" name="Text 5"/>
          <p:cNvSpPr txBox="1"/>
          <p:nvPr/>
        </p:nvSpPr>
        <p:spPr>
          <a:xfrm>
            <a:off x="1481328" y="1883664"/>
            <a:ext cx="5120640" cy="310896"/>
          </a:xfrm>
          <a:prstGeom prst="rect">
            <a:avLst/>
          </a:prstGeom>
          <a:noFill/>
          <a:ln/>
        </p:spPr>
        <p:txBody>
          <a:bodyPr wrap="square" lIns="0" tIns="0" rIns="0" bIns="0" rtlCol="0" anchor="ctr"/>
          <a:lstStyle/>
          <a:p>
            <a:pPr indent="0" marL="0">
              <a:buNone/>
            </a:pPr>
            <a:r>
              <a:rPr lang="en-US" sz="1250" i="1" dirty="0">
                <a:solidFill>
                  <a:srgbClr val="7D8E97"/>
                </a:solidFill>
              </a:rPr>
              <a:t>What should have been done by now?</a:t>
            </a:r>
            <a:endParaRPr lang="en-US" sz="1250" dirty="0"/>
          </a:p>
        </p:txBody>
      </p:sp>
      <p:sp>
        <p:nvSpPr>
          <p:cNvPr id="8" name="m1"/>
          <p:cNvSpPr/>
          <p:nvPr/>
        </p:nvSpPr>
        <p:spPr>
          <a:xfrm>
            <a:off x="566928" y="2578608"/>
            <a:ext cx="6309360" cy="1005840"/>
          </a:xfrm>
          <a:prstGeom prst="roundRect">
            <a:avLst>
              <a:gd name="adj" fmla="val 5455"/>
            </a:avLst>
          </a:prstGeom>
          <a:solidFill>
            <a:schemeClr val="bg2"/>
          </a:solidFill>
          <a:ln/>
          <a:effectLst>
            <a:outerShdw sx="100000" sy="100000" kx="0" ky="0" algn="bl" rotWithShape="0" blurRad="101600" dist="25400" dir="5400000">
              <a:srgbClr val="1C262B">
                <a:alpha val="10000"/>
              </a:srgbClr>
            </a:outerShdw>
          </a:effectLst>
        </p:spPr>
      </p:sp>
      <p:sp>
        <p:nvSpPr>
          <p:cNvPr id="9" name="mc1"/>
          <p:cNvSpPr/>
          <p:nvPr/>
        </p:nvSpPr>
        <p:spPr>
          <a:xfrm>
            <a:off x="841248" y="2843784"/>
            <a:ext cx="475488" cy="475488"/>
          </a:xfrm>
          <a:prstGeom prst="ellipse">
            <a:avLst/>
          </a:prstGeom>
          <a:solidFill>
            <a:srgbClr val="4E7A6B"/>
          </a:solidFill>
          <a:ln/>
        </p:spPr>
      </p:sp>
      <p:sp>
        <p:nvSpPr>
          <p:cNvPr id="10" name="Text 8"/>
          <p:cNvSpPr txBox="1"/>
          <p:nvPr/>
        </p:nvSpPr>
        <p:spPr>
          <a:xfrm>
            <a:off x="841248" y="284378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EV</a:t>
            </a:r>
            <a:endParaRPr lang="en-US" sz="1300" dirty="0"/>
          </a:p>
        </p:txBody>
      </p:sp>
      <p:sp>
        <p:nvSpPr>
          <p:cNvPr id="11" name="Text 9"/>
          <p:cNvSpPr txBox="1"/>
          <p:nvPr/>
        </p:nvSpPr>
        <p:spPr>
          <a:xfrm>
            <a:off x="1481328" y="2743200"/>
            <a:ext cx="5120640" cy="347472"/>
          </a:xfrm>
          <a:prstGeom prst="rect">
            <a:avLst/>
          </a:prstGeom>
          <a:noFill/>
          <a:ln/>
        </p:spPr>
        <p:txBody>
          <a:bodyPr wrap="square" lIns="0" tIns="0" rIns="0" bIns="0" rtlCol="0" anchor="ctr"/>
          <a:lstStyle/>
          <a:p>
            <a:pPr indent="0" marL="0">
              <a:buNone/>
            </a:pPr>
            <a:r>
              <a:rPr lang="en-US" sz="1500" b="1" dirty="0">
                <a:solidFill>
                  <a:schemeClr val="tx1"/>
                </a:solidFill>
              </a:rPr>
              <a:t>Budgeted cost of work performed</a:t>
            </a:r>
            <a:endParaRPr lang="en-US" sz="1500" dirty="0"/>
          </a:p>
        </p:txBody>
      </p:sp>
      <p:sp>
        <p:nvSpPr>
          <p:cNvPr id="12" name="Text 10"/>
          <p:cNvSpPr txBox="1"/>
          <p:nvPr/>
        </p:nvSpPr>
        <p:spPr>
          <a:xfrm>
            <a:off x="1481328" y="3090672"/>
            <a:ext cx="5120640" cy="310896"/>
          </a:xfrm>
          <a:prstGeom prst="rect">
            <a:avLst/>
          </a:prstGeom>
          <a:noFill/>
          <a:ln/>
        </p:spPr>
        <p:txBody>
          <a:bodyPr wrap="square" lIns="0" tIns="0" rIns="0" bIns="0" rtlCol="0" anchor="ctr"/>
          <a:lstStyle/>
          <a:p>
            <a:pPr indent="0" marL="0">
              <a:buNone/>
            </a:pPr>
            <a:r>
              <a:rPr lang="en-US" sz="1250" i="1" dirty="0">
                <a:solidFill>
                  <a:srgbClr val="7D8E97"/>
                </a:solidFill>
              </a:rPr>
              <a:t>What was actually done?</a:t>
            </a:r>
            <a:endParaRPr lang="en-US" sz="1250" dirty="0"/>
          </a:p>
        </p:txBody>
      </p:sp>
      <p:sp>
        <p:nvSpPr>
          <p:cNvPr id="13" name="m2"/>
          <p:cNvSpPr/>
          <p:nvPr/>
        </p:nvSpPr>
        <p:spPr>
          <a:xfrm>
            <a:off x="566928" y="3785616"/>
            <a:ext cx="6309360" cy="1005840"/>
          </a:xfrm>
          <a:prstGeom prst="roundRect">
            <a:avLst>
              <a:gd name="adj" fmla="val 5455"/>
            </a:avLst>
          </a:prstGeom>
          <a:solidFill>
            <a:schemeClr val="bg2"/>
          </a:solidFill>
          <a:ln/>
          <a:effectLst>
            <a:outerShdw sx="100000" sy="100000" kx="0" ky="0" algn="bl" rotWithShape="0" blurRad="101600" dist="25400" dir="5400000">
              <a:srgbClr val="1C262B">
                <a:alpha val="10000"/>
              </a:srgbClr>
            </a:outerShdw>
          </a:effectLst>
        </p:spPr>
      </p:sp>
      <p:sp>
        <p:nvSpPr>
          <p:cNvPr id="14" name="mc2"/>
          <p:cNvSpPr/>
          <p:nvPr/>
        </p:nvSpPr>
        <p:spPr>
          <a:xfrm>
            <a:off x="841248" y="4050792"/>
            <a:ext cx="475488" cy="475488"/>
          </a:xfrm>
          <a:prstGeom prst="ellipse">
            <a:avLst/>
          </a:prstGeom>
          <a:solidFill>
            <a:srgbClr val="C1553B"/>
          </a:solidFill>
          <a:ln/>
        </p:spPr>
      </p:sp>
      <p:sp>
        <p:nvSpPr>
          <p:cNvPr id="15" name="Text 13"/>
          <p:cNvSpPr txBox="1"/>
          <p:nvPr/>
        </p:nvSpPr>
        <p:spPr>
          <a:xfrm>
            <a:off x="841248" y="40507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AC</a:t>
            </a:r>
            <a:endParaRPr lang="en-US" sz="1300" dirty="0"/>
          </a:p>
        </p:txBody>
      </p:sp>
      <p:sp>
        <p:nvSpPr>
          <p:cNvPr id="16" name="Text 14"/>
          <p:cNvSpPr txBox="1"/>
          <p:nvPr/>
        </p:nvSpPr>
        <p:spPr>
          <a:xfrm>
            <a:off x="1481328" y="3950208"/>
            <a:ext cx="5120640" cy="347472"/>
          </a:xfrm>
          <a:prstGeom prst="rect">
            <a:avLst/>
          </a:prstGeom>
          <a:noFill/>
          <a:ln/>
        </p:spPr>
        <p:txBody>
          <a:bodyPr wrap="square" lIns="0" tIns="0" rIns="0" bIns="0" rtlCol="0" anchor="ctr"/>
          <a:lstStyle/>
          <a:p>
            <a:pPr indent="0" marL="0">
              <a:buNone/>
            </a:pPr>
            <a:r>
              <a:rPr lang="en-US" sz="1500" b="1" dirty="0">
                <a:solidFill>
                  <a:schemeClr val="tx1"/>
                </a:solidFill>
              </a:rPr>
              <a:t>Actual cost of doing it</a:t>
            </a:r>
            <a:endParaRPr lang="en-US" sz="1500" dirty="0"/>
          </a:p>
        </p:txBody>
      </p:sp>
      <p:sp>
        <p:nvSpPr>
          <p:cNvPr id="17" name="Text 15"/>
          <p:cNvSpPr txBox="1"/>
          <p:nvPr/>
        </p:nvSpPr>
        <p:spPr>
          <a:xfrm>
            <a:off x="1481328" y="4297680"/>
            <a:ext cx="5120640" cy="310896"/>
          </a:xfrm>
          <a:prstGeom prst="rect">
            <a:avLst/>
          </a:prstGeom>
          <a:noFill/>
          <a:ln/>
        </p:spPr>
        <p:txBody>
          <a:bodyPr wrap="square" lIns="0" tIns="0" rIns="0" bIns="0" rtlCol="0" anchor="ctr"/>
          <a:lstStyle/>
          <a:p>
            <a:pPr indent="0" marL="0">
              <a:buNone/>
            </a:pPr>
            <a:r>
              <a:rPr lang="en-US" sz="1250" i="1" dirty="0">
                <a:solidFill>
                  <a:srgbClr val="7D8E97"/>
                </a:solidFill>
              </a:rPr>
              <a:t>What did it cost?</a:t>
            </a:r>
            <a:endParaRPr lang="en-US" sz="1250" dirty="0"/>
          </a:p>
        </p:txBody>
      </p:sp>
      <p:sp>
        <p:nvSpPr>
          <p:cNvPr id="18" name="compare"/>
          <p:cNvSpPr/>
          <p:nvPr/>
        </p:nvSpPr>
        <p:spPr>
          <a:xfrm>
            <a:off x="7178040" y="1371600"/>
            <a:ext cx="4443984" cy="3419856"/>
          </a:xfrm>
          <a:prstGeom prst="roundRect">
            <a:avLst>
              <a:gd name="adj" fmla="val 1604"/>
            </a:avLst>
          </a:prstGeom>
          <a:solidFill>
            <a:schemeClr val="bg2"/>
          </a:solidFill>
          <a:ln/>
          <a:effectLst>
            <a:outerShdw sx="100000" sy="100000" kx="0" ky="0" algn="bl" rotWithShape="0" blurRad="101600" dist="25400" dir="5400000">
              <a:srgbClr val="1C262B">
                <a:alpha val="10000"/>
              </a:srgbClr>
            </a:outerShdw>
          </a:effectLst>
        </p:spPr>
      </p:sp>
      <p:sp>
        <p:nvSpPr>
          <p:cNvPr id="19" name="Text 17"/>
          <p:cNvSpPr txBox="1"/>
          <p:nvPr/>
        </p:nvSpPr>
        <p:spPr>
          <a:xfrm>
            <a:off x="7452360" y="1536192"/>
            <a:ext cx="3895344" cy="365760"/>
          </a:xfrm>
          <a:prstGeom prst="rect">
            <a:avLst/>
          </a:prstGeom>
          <a:noFill/>
          <a:ln/>
        </p:spPr>
        <p:txBody>
          <a:bodyPr wrap="square" lIns="0" tIns="0" rIns="0" bIns="0" rtlCol="0" anchor="ctr"/>
          <a:lstStyle/>
          <a:p>
            <a:pPr indent="0" marL="0">
              <a:buNone/>
            </a:pPr>
            <a:r>
              <a:rPr lang="en-US" sz="1400" b="1" dirty="0">
                <a:solidFill>
                  <a:schemeClr val="tx1"/>
                </a:solidFill>
              </a:rPr>
              <a:t>Everything else compares two of the three</a:t>
            </a:r>
            <a:endParaRPr lang="en-US" sz="1400" dirty="0"/>
          </a:p>
        </p:txBody>
      </p:sp>
      <p:sp>
        <p:nvSpPr>
          <p:cNvPr id="20" name="Text 18"/>
          <p:cNvSpPr txBox="1"/>
          <p:nvPr/>
        </p:nvSpPr>
        <p:spPr>
          <a:xfrm>
            <a:off x="7452360" y="2029968"/>
            <a:ext cx="3895344" cy="310896"/>
          </a:xfrm>
          <a:prstGeom prst="rect">
            <a:avLst/>
          </a:prstGeom>
          <a:noFill/>
          <a:ln/>
        </p:spPr>
        <p:txBody>
          <a:bodyPr wrap="square" lIns="0" tIns="0" rIns="0" bIns="0" rtlCol="0" anchor="ctr"/>
          <a:lstStyle/>
          <a:p>
            <a:pPr indent="0" marL="0">
              <a:buNone/>
            </a:pPr>
            <a:r>
              <a:rPr lang="en-US" sz="1300" b="1" dirty="0">
                <a:solidFill>
                  <a:srgbClr val="C1553B"/>
                </a:solidFill>
              </a:rPr>
              <a:t>EV against AC  →  cost</a:t>
            </a:r>
            <a:endParaRPr lang="en-US" sz="1300" dirty="0"/>
          </a:p>
        </p:txBody>
      </p:sp>
      <p:sp>
        <p:nvSpPr>
          <p:cNvPr id="21" name="Text 19"/>
          <p:cNvSpPr txBox="1"/>
          <p:nvPr/>
        </p:nvSpPr>
        <p:spPr>
          <a:xfrm>
            <a:off x="7452360" y="2359152"/>
            <a:ext cx="3895344" cy="731520"/>
          </a:xfrm>
          <a:prstGeom prst="rect">
            <a:avLst/>
          </a:prstGeom>
          <a:noFill/>
          <a:ln/>
        </p:spPr>
        <p:txBody>
          <a:bodyPr wrap="square" lIns="0" tIns="0" rIns="0" bIns="0" rtlCol="0" anchor="t"/>
          <a:lstStyle/>
          <a:p>
            <a:pPr indent="0" marL="0">
              <a:lnSpc>
                <a:spcPts val="2000"/>
              </a:lnSpc>
              <a:buNone/>
            </a:pPr>
            <a:r>
              <a:rPr lang="en-US" sz="1500" dirty="0">
                <a:solidFill>
                  <a:schemeClr val="tx1"/>
                </a:solidFill>
                <a:latin typeface="Courier New" pitchFamily="34" charset="0"/>
                <a:ea typeface="Courier New" pitchFamily="34" charset="-122"/>
                <a:cs typeface="Courier New" pitchFamily="34" charset="-120"/>
              </a:rPr>
              <a:t>CV = EV − AC</a:t>
            </a:r>
            <a:endParaRPr lang="en-US" sz="1500" dirty="0"/>
          </a:p>
          <a:p>
            <a:pPr indent="0" marL="0">
              <a:lnSpc>
                <a:spcPts val="2000"/>
              </a:lnSpc>
              <a:buNone/>
            </a:pPr>
            <a:r>
              <a:rPr lang="en-US" sz="1500" dirty="0">
                <a:solidFill>
                  <a:schemeClr val="tx1"/>
                </a:solidFill>
                <a:latin typeface="Courier New" pitchFamily="34" charset="0"/>
                <a:ea typeface="Courier New" pitchFamily="34" charset="-122"/>
                <a:cs typeface="Courier New" pitchFamily="34" charset="-120"/>
              </a:rPr>
              <a:t>CPI = EV ÷ AC</a:t>
            </a:r>
            <a:endParaRPr lang="en-US" sz="1500" dirty="0"/>
          </a:p>
        </p:txBody>
      </p:sp>
      <p:sp>
        <p:nvSpPr>
          <p:cNvPr id="22" name="Text 20"/>
          <p:cNvSpPr txBox="1"/>
          <p:nvPr/>
        </p:nvSpPr>
        <p:spPr>
          <a:xfrm>
            <a:off x="7452360" y="3364992"/>
            <a:ext cx="3895344" cy="310896"/>
          </a:xfrm>
          <a:prstGeom prst="rect">
            <a:avLst/>
          </a:prstGeom>
          <a:noFill/>
          <a:ln/>
        </p:spPr>
        <p:txBody>
          <a:bodyPr wrap="square" lIns="0" tIns="0" rIns="0" bIns="0" rtlCol="0" anchor="ctr"/>
          <a:lstStyle/>
          <a:p>
            <a:pPr indent="0" marL="0">
              <a:buNone/>
            </a:pPr>
            <a:r>
              <a:rPr lang="en-US" sz="1300" b="1" dirty="0">
                <a:solidFill>
                  <a:srgbClr val="3E5660"/>
                </a:solidFill>
              </a:rPr>
              <a:t>EV against PV  →  schedule</a:t>
            </a:r>
            <a:endParaRPr lang="en-US" sz="1300" dirty="0"/>
          </a:p>
        </p:txBody>
      </p:sp>
      <p:sp>
        <p:nvSpPr>
          <p:cNvPr id="23" name="Text 21"/>
          <p:cNvSpPr txBox="1"/>
          <p:nvPr/>
        </p:nvSpPr>
        <p:spPr>
          <a:xfrm>
            <a:off x="7452360" y="3694176"/>
            <a:ext cx="3895344" cy="731520"/>
          </a:xfrm>
          <a:prstGeom prst="rect">
            <a:avLst/>
          </a:prstGeom>
          <a:noFill/>
          <a:ln/>
        </p:spPr>
        <p:txBody>
          <a:bodyPr wrap="square" lIns="0" tIns="0" rIns="0" bIns="0" rtlCol="0" anchor="t"/>
          <a:lstStyle/>
          <a:p>
            <a:pPr indent="0" marL="0">
              <a:lnSpc>
                <a:spcPts val="2000"/>
              </a:lnSpc>
              <a:buNone/>
            </a:pPr>
            <a:r>
              <a:rPr lang="en-US" sz="1500" dirty="0">
                <a:solidFill>
                  <a:schemeClr val="tx1"/>
                </a:solidFill>
                <a:latin typeface="Courier New" pitchFamily="34" charset="0"/>
                <a:ea typeface="Courier New" pitchFamily="34" charset="-122"/>
                <a:cs typeface="Courier New" pitchFamily="34" charset="-120"/>
              </a:rPr>
              <a:t>SV = EV − PV</a:t>
            </a:r>
            <a:endParaRPr lang="en-US" sz="1500" dirty="0"/>
          </a:p>
          <a:p>
            <a:pPr indent="0" marL="0">
              <a:lnSpc>
                <a:spcPts val="2000"/>
              </a:lnSpc>
              <a:buNone/>
            </a:pPr>
            <a:r>
              <a:rPr lang="en-US" sz="1500" dirty="0">
                <a:solidFill>
                  <a:schemeClr val="tx1"/>
                </a:solidFill>
                <a:latin typeface="Courier New" pitchFamily="34" charset="0"/>
                <a:ea typeface="Courier New" pitchFamily="34" charset="-122"/>
                <a:cs typeface="Courier New" pitchFamily="34" charset="-120"/>
              </a:rPr>
              <a:t>SPI = EV ÷ PV</a:t>
            </a:r>
            <a:endParaRPr lang="en-US" sz="1500" dirty="0"/>
          </a:p>
        </p:txBody>
      </p:sp>
      <p:sp>
        <p:nvSpPr>
          <p:cNvPr id="24" name="quote"/>
          <p:cNvSpPr txBox="1"/>
          <p:nvPr/>
        </p:nvSpPr>
        <p:spPr>
          <a:xfrm>
            <a:off x="566928" y="5120640"/>
            <a:ext cx="11055096" cy="457200"/>
          </a:xfrm>
          <a:prstGeom prst="rect">
            <a:avLst/>
          </a:prstGeom>
          <a:noFill/>
          <a:ln/>
        </p:spPr>
        <p:txBody>
          <a:bodyPr wrap="square" lIns="0" tIns="0" rIns="0" bIns="0" rtlCol="0" anchor="ctr"/>
          <a:lstStyle/>
          <a:p>
            <a:pPr indent="0" marL="0">
              <a:buNone/>
            </a:pPr>
            <a:r>
              <a:rPr lang="en-US" sz="1700" i="1" dirty="0">
                <a:solidFill>
                  <a:srgbClr val="3E5660"/>
                </a:solidFill>
                <a:latin typeface="Cambria" pitchFamily="34" charset="0"/>
                <a:ea typeface="Cambria" pitchFamily="34" charset="-122"/>
                <a:cs typeface="Cambria" pitchFamily="34" charset="-120"/>
              </a:rPr>
              <a:t>“That is the whole method. The rest is bookkeeping on top of it.”</a:t>
            </a:r>
            <a:endParaRPr lang="en-US" sz="1700" dirty="0"/>
          </a:p>
        </p:txBody>
      </p:sp>
      <p:sp>
        <p:nvSpPr>
          <p:cNvPr id="25" name="Text 23"/>
          <p:cNvSpPr txBox="1"/>
          <p:nvPr/>
        </p:nvSpPr>
        <p:spPr>
          <a:xfrm>
            <a:off x="566928" y="5596128"/>
            <a:ext cx="11055096" cy="365760"/>
          </a:xfrm>
          <a:prstGeom prst="rect">
            <a:avLst/>
          </a:prstGeom>
          <a:noFill/>
          <a:ln/>
        </p:spPr>
        <p:txBody>
          <a:bodyPr wrap="square" lIns="0" tIns="0" rIns="0" bIns="0" rtlCol="0" anchor="ctr"/>
          <a:lstStyle/>
          <a:p>
            <a:pPr indent="0" marL="0">
              <a:buNone/>
            </a:pPr>
            <a:r>
              <a:rPr lang="en-US" sz="1250" dirty="0">
                <a:solidFill>
                  <a:srgbClr val="7D8E97"/>
                </a:solidFill>
              </a:rPr>
              <a:t>The tool adds Earned Schedule, four forecasting methods and the same calculation at every work package.</a:t>
            </a:r>
            <a:endParaRPr lang="en-US" sz="125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The case study: a G+4 RCC academic block</a:t>
            </a:r>
            <a:endParaRPr lang="en-US" sz="3200" dirty="0"/>
          </a:p>
        </p:txBody>
      </p:sp>
      <p:graphicFrame>
        <p:nvGraphicFramePr>
          <p:cNvPr id="3" name="Chart 0" descr=""/>
          <p:cNvGraphicFramePr/>
          <p:nvPr/>
        </p:nvGraphicFramePr>
        <p:xfrm>
          <a:off x="566928" y="1225296"/>
          <a:ext cx="6492240" cy="3611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06640" y="1225296"/>
            <a:ext cx="1143000" cy="384048"/>
          </a:xfrm>
          <a:prstGeom prst="rect">
            <a:avLst/>
          </a:prstGeom>
          <a:noFill/>
          <a:ln/>
        </p:spPr>
        <p:txBody>
          <a:bodyPr wrap="square" lIns="0" tIns="0" rIns="0" bIns="0" rtlCol="0" anchor="ctr"/>
          <a:lstStyle/>
          <a:p>
            <a:pPr indent="0" marL="0">
              <a:buNone/>
            </a:pPr>
            <a:r>
              <a:rPr lang="en-US" sz="1200" b="1" dirty="0">
                <a:solidFill>
                  <a:srgbClr val="7D8E97"/>
                </a:solidFill>
              </a:rPr>
              <a:t>BAC</a:t>
            </a:r>
            <a:endParaRPr lang="en-US" sz="1200" dirty="0"/>
          </a:p>
        </p:txBody>
      </p:sp>
      <p:sp>
        <p:nvSpPr>
          <p:cNvPr id="5" name="Text 2"/>
          <p:cNvSpPr txBox="1"/>
          <p:nvPr/>
        </p:nvSpPr>
        <p:spPr>
          <a:xfrm>
            <a:off x="8549640" y="1225296"/>
            <a:ext cx="3063240" cy="384048"/>
          </a:xfrm>
          <a:prstGeom prst="rect">
            <a:avLst/>
          </a:prstGeom>
          <a:noFill/>
          <a:ln/>
        </p:spPr>
        <p:txBody>
          <a:bodyPr wrap="square" lIns="0" tIns="0" rIns="0" bIns="0" rtlCol="0" anchor="ctr"/>
          <a:lstStyle/>
          <a:p>
            <a:pPr indent="0" marL="0">
              <a:buNone/>
            </a:pPr>
            <a:r>
              <a:rPr lang="en-US" sz="1300" dirty="0">
                <a:solidFill>
                  <a:schemeClr val="tx1"/>
                </a:solidFill>
              </a:rPr>
              <a:t>₹14.00 crore</a:t>
            </a:r>
            <a:endParaRPr lang="en-US" sz="1300" dirty="0"/>
          </a:p>
        </p:txBody>
      </p:sp>
      <p:sp>
        <p:nvSpPr>
          <p:cNvPr id="6" name="Text 3"/>
          <p:cNvSpPr txBox="1"/>
          <p:nvPr/>
        </p:nvSpPr>
        <p:spPr>
          <a:xfrm>
            <a:off x="7406640" y="1700784"/>
            <a:ext cx="1143000" cy="384048"/>
          </a:xfrm>
          <a:prstGeom prst="rect">
            <a:avLst/>
          </a:prstGeom>
          <a:noFill/>
          <a:ln/>
        </p:spPr>
        <p:txBody>
          <a:bodyPr wrap="square" lIns="0" tIns="0" rIns="0" bIns="0" rtlCol="0" anchor="ctr"/>
          <a:lstStyle/>
          <a:p>
            <a:pPr indent="0" marL="0">
              <a:buNone/>
            </a:pPr>
            <a:r>
              <a:rPr lang="en-US" sz="1200" b="1" dirty="0">
                <a:solidFill>
                  <a:srgbClr val="7D8E97"/>
                </a:solidFill>
              </a:rPr>
              <a:t>Baseline</a:t>
            </a:r>
            <a:endParaRPr lang="en-US" sz="1200" dirty="0"/>
          </a:p>
        </p:txBody>
      </p:sp>
      <p:sp>
        <p:nvSpPr>
          <p:cNvPr id="7" name="Text 4"/>
          <p:cNvSpPr txBox="1"/>
          <p:nvPr/>
        </p:nvSpPr>
        <p:spPr>
          <a:xfrm>
            <a:off x="8549640" y="1700784"/>
            <a:ext cx="3063240" cy="384048"/>
          </a:xfrm>
          <a:prstGeom prst="rect">
            <a:avLst/>
          </a:prstGeom>
          <a:noFill/>
          <a:ln/>
        </p:spPr>
        <p:txBody>
          <a:bodyPr wrap="square" lIns="0" tIns="0" rIns="0" bIns="0" rtlCol="0" anchor="ctr"/>
          <a:lstStyle/>
          <a:p>
            <a:pPr indent="0" marL="0">
              <a:buNone/>
            </a:pPr>
            <a:r>
              <a:rPr lang="en-US" sz="1300" dirty="0">
                <a:solidFill>
                  <a:schemeClr val="tx1"/>
                </a:solidFill>
              </a:rPr>
              <a:t>12 months, Apr 2026 to Mar 2027</a:t>
            </a:r>
            <a:endParaRPr lang="en-US" sz="1300" dirty="0"/>
          </a:p>
        </p:txBody>
      </p:sp>
      <p:sp>
        <p:nvSpPr>
          <p:cNvPr id="8" name="Text 5"/>
          <p:cNvSpPr txBox="1"/>
          <p:nvPr/>
        </p:nvSpPr>
        <p:spPr>
          <a:xfrm>
            <a:off x="7406640" y="2176272"/>
            <a:ext cx="1143000" cy="384048"/>
          </a:xfrm>
          <a:prstGeom prst="rect">
            <a:avLst/>
          </a:prstGeom>
          <a:noFill/>
          <a:ln/>
        </p:spPr>
        <p:txBody>
          <a:bodyPr wrap="square" lIns="0" tIns="0" rIns="0" bIns="0" rtlCol="0" anchor="ctr"/>
          <a:lstStyle/>
          <a:p>
            <a:pPr indent="0" marL="0">
              <a:buNone/>
            </a:pPr>
            <a:r>
              <a:rPr lang="en-US" sz="1200" b="1" dirty="0">
                <a:solidFill>
                  <a:srgbClr val="7D8E97"/>
                </a:solidFill>
              </a:rPr>
              <a:t>Structure</a:t>
            </a:r>
            <a:endParaRPr lang="en-US" sz="1200" dirty="0"/>
          </a:p>
        </p:txBody>
      </p:sp>
      <p:sp>
        <p:nvSpPr>
          <p:cNvPr id="9" name="Text 6"/>
          <p:cNvSpPr txBox="1"/>
          <p:nvPr/>
        </p:nvSpPr>
        <p:spPr>
          <a:xfrm>
            <a:off x="8549640" y="2176272"/>
            <a:ext cx="3063240" cy="384048"/>
          </a:xfrm>
          <a:prstGeom prst="rect">
            <a:avLst/>
          </a:prstGeom>
          <a:noFill/>
          <a:ln/>
        </p:spPr>
        <p:txBody>
          <a:bodyPr wrap="square" lIns="0" tIns="0" rIns="0" bIns="0" rtlCol="0" anchor="ctr"/>
          <a:lstStyle/>
          <a:p>
            <a:pPr indent="0" marL="0">
              <a:buNone/>
            </a:pPr>
            <a:r>
              <a:rPr lang="en-US" sz="1300" dirty="0">
                <a:solidFill>
                  <a:schemeClr val="tx1"/>
                </a:solidFill>
              </a:rPr>
              <a:t>19 leaf work packages, 6 divisions</a:t>
            </a:r>
            <a:endParaRPr lang="en-US" sz="1300" dirty="0"/>
          </a:p>
        </p:txBody>
      </p:sp>
      <p:sp>
        <p:nvSpPr>
          <p:cNvPr id="10" name="Text 7"/>
          <p:cNvSpPr txBox="1"/>
          <p:nvPr/>
        </p:nvSpPr>
        <p:spPr>
          <a:xfrm>
            <a:off x="7406640" y="2651760"/>
            <a:ext cx="1143000" cy="384048"/>
          </a:xfrm>
          <a:prstGeom prst="rect">
            <a:avLst/>
          </a:prstGeom>
          <a:noFill/>
          <a:ln/>
        </p:spPr>
        <p:txBody>
          <a:bodyPr wrap="square" lIns="0" tIns="0" rIns="0" bIns="0" rtlCol="0" anchor="ctr"/>
          <a:lstStyle/>
          <a:p>
            <a:pPr indent="0" marL="0">
              <a:buNone/>
            </a:pPr>
            <a:r>
              <a:rPr lang="en-US" sz="1200" b="1" dirty="0">
                <a:solidFill>
                  <a:srgbClr val="7D8E97"/>
                </a:solidFill>
              </a:rPr>
              <a:t>Data date</a:t>
            </a:r>
            <a:endParaRPr lang="en-US" sz="1200" dirty="0"/>
          </a:p>
        </p:txBody>
      </p:sp>
      <p:sp>
        <p:nvSpPr>
          <p:cNvPr id="11" name="Text 8"/>
          <p:cNvSpPr txBox="1"/>
          <p:nvPr/>
        </p:nvSpPr>
        <p:spPr>
          <a:xfrm>
            <a:off x="8549640" y="2651760"/>
            <a:ext cx="3063240" cy="384048"/>
          </a:xfrm>
          <a:prstGeom prst="rect">
            <a:avLst/>
          </a:prstGeom>
          <a:noFill/>
          <a:ln/>
        </p:spPr>
        <p:txBody>
          <a:bodyPr wrap="square" lIns="0" tIns="0" rIns="0" bIns="0" rtlCol="0" anchor="ctr"/>
          <a:lstStyle/>
          <a:p>
            <a:pPr indent="0" marL="0">
              <a:buNone/>
            </a:pPr>
            <a:r>
              <a:rPr lang="en-US" sz="1300" dirty="0">
                <a:solidFill>
                  <a:schemeClr val="tx1"/>
                </a:solidFill>
              </a:rPr>
              <a:t>end of month 6, Sep 2026</a:t>
            </a:r>
            <a:endParaRPr lang="en-US" sz="1300" dirty="0"/>
          </a:p>
        </p:txBody>
      </p:sp>
      <p:sp>
        <p:nvSpPr>
          <p:cNvPr id="12" name="story"/>
          <p:cNvSpPr/>
          <p:nvPr/>
        </p:nvSpPr>
        <p:spPr>
          <a:xfrm>
            <a:off x="7406640" y="3218688"/>
            <a:ext cx="4206240" cy="1618488"/>
          </a:xfrm>
          <a:prstGeom prst="roundRect">
            <a:avLst>
              <a:gd name="adj" fmla="val 3390"/>
            </a:avLst>
          </a:prstGeom>
          <a:solidFill>
            <a:schemeClr val="bg2"/>
          </a:solidFill>
          <a:ln/>
          <a:effectLst>
            <a:outerShdw sx="100000" sy="100000" kx="0" ky="0" algn="bl" rotWithShape="0" blurRad="101600" dist="25400" dir="5400000">
              <a:srgbClr val="1C262B">
                <a:alpha val="10000"/>
              </a:srgbClr>
            </a:outerShdw>
          </a:effectLst>
        </p:spPr>
      </p:sp>
      <p:sp>
        <p:nvSpPr>
          <p:cNvPr id="13" name="Text 10"/>
          <p:cNvSpPr txBox="1"/>
          <p:nvPr/>
        </p:nvSpPr>
        <p:spPr>
          <a:xfrm>
            <a:off x="7662672" y="3346704"/>
            <a:ext cx="3694176" cy="292608"/>
          </a:xfrm>
          <a:prstGeom prst="rect">
            <a:avLst/>
          </a:prstGeom>
          <a:noFill/>
          <a:ln/>
        </p:spPr>
        <p:txBody>
          <a:bodyPr wrap="square" lIns="0" tIns="0" rIns="0" bIns="0" rtlCol="0" anchor="ctr"/>
          <a:lstStyle/>
          <a:p>
            <a:pPr indent="0" marL="0">
              <a:buNone/>
            </a:pPr>
            <a:r>
              <a:rPr lang="en-US" sz="1250" b="1" dirty="0">
                <a:solidFill>
                  <a:schemeClr val="tx1"/>
                </a:solidFill>
              </a:rPr>
              <a:t>How it went wrong</a:t>
            </a:r>
            <a:endParaRPr lang="en-US" sz="1250" dirty="0"/>
          </a:p>
        </p:txBody>
      </p:sp>
      <p:sp>
        <p:nvSpPr>
          <p:cNvPr id="14" name="Text 11"/>
          <p:cNvSpPr txBox="1"/>
          <p:nvPr/>
        </p:nvSpPr>
        <p:spPr>
          <a:xfrm>
            <a:off x="7662672" y="3657600"/>
            <a:ext cx="3694176" cy="10972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Hard rock in excavation — 45% over on that package, two months late</a:t>
            </a:r>
            <a:endParaRPr lang="en-US" sz="1150" dirty="0"/>
          </a:p>
          <a:p>
            <a:pPr marL="342900" indent="-342900">
              <a:spcAft>
                <a:spcPts val="500"/>
              </a:spcAft>
              <a:buSzPct val="100000"/>
              <a:buChar char="•"/>
            </a:pPr>
            <a:r>
              <a:rPr lang="en-US" sz="1150" dirty="0">
                <a:solidFill>
                  <a:schemeClr val="tx1"/>
                </a:solidFill>
              </a:rPr>
              <a:t>Cascaded into footings and foundation RCC</a:t>
            </a:r>
            <a:endParaRPr lang="en-US" sz="1150" dirty="0"/>
          </a:p>
          <a:p>
            <a:pPr marL="342900" indent="-342900">
              <a:spcAft>
                <a:spcPts val="500"/>
              </a:spcAft>
              <a:buSzPct val="100000"/>
              <a:buChar char="•"/>
            </a:pPr>
            <a:r>
              <a:rPr lang="en-US" sz="1150" dirty="0">
                <a:solidFill>
                  <a:schemeClr val="tx1"/>
                </a:solidFill>
              </a:rPr>
              <a:t>Frame started a month late, running an 18-day slab cycle against 12</a:t>
            </a:r>
            <a:endParaRPr lang="en-US" sz="1150" dirty="0"/>
          </a:p>
        </p:txBody>
      </p:sp>
      <p:sp>
        <p:nvSpPr>
          <p:cNvPr id="15" name="caveat"/>
          <p:cNvSpPr/>
          <p:nvPr/>
        </p:nvSpPr>
        <p:spPr>
          <a:xfrm>
            <a:off x="566928" y="5047488"/>
            <a:ext cx="11055096" cy="1005840"/>
          </a:xfrm>
          <a:prstGeom prst="roundRect">
            <a:avLst>
              <a:gd name="adj" fmla="val 5455"/>
            </a:avLst>
          </a:prstGeom>
          <a:solidFill>
            <a:srgbClr val="FBF3E3"/>
          </a:solidFill>
          <a:ln/>
          <a:effectLst>
            <a:outerShdw sx="100000" sy="100000" kx="0" ky="0" algn="bl" rotWithShape="0" blurRad="101600" dist="25400" dir="5400000">
              <a:srgbClr val="1C262B">
                <a:alpha val="10000"/>
              </a:srgbClr>
            </a:outerShdw>
          </a:effectLst>
        </p:spPr>
      </p:sp>
      <p:sp>
        <p:nvSpPr>
          <p:cNvPr id="16" name="caveatc"/>
          <p:cNvSpPr/>
          <p:nvPr/>
        </p:nvSpPr>
        <p:spPr>
          <a:xfrm>
            <a:off x="841248" y="5340096"/>
            <a:ext cx="420624" cy="420624"/>
          </a:xfrm>
          <a:prstGeom prst="ellipse">
            <a:avLst/>
          </a:prstGeom>
          <a:solidFill>
            <a:srgbClr val="D4A04C"/>
          </a:solidFill>
          <a:ln/>
        </p:spPr>
      </p:sp>
      <p:sp>
        <p:nvSpPr>
          <p:cNvPr id="17" name="Text 14"/>
          <p:cNvSpPr txBox="1"/>
          <p:nvPr/>
        </p:nvSpPr>
        <p:spPr>
          <a:xfrm>
            <a:off x="841248" y="53400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8" name="Text 15"/>
          <p:cNvSpPr txBox="1"/>
          <p:nvPr/>
        </p:nvSpPr>
        <p:spPr>
          <a:xfrm>
            <a:off x="1408176" y="5175504"/>
            <a:ext cx="10058400" cy="749808"/>
          </a:xfrm>
          <a:prstGeom prst="rect">
            <a:avLst/>
          </a:prstGeom>
          <a:noFill/>
          <a:ln/>
        </p:spPr>
        <p:txBody>
          <a:bodyPr wrap="square" lIns="0" tIns="0" rIns="0" bIns="0" rtlCol="0" anchor="ctr"/>
          <a:lstStyle/>
          <a:p>
            <a:pPr indent="0" marL="0">
              <a:buNone/>
            </a:pPr>
            <a:r>
              <a:rPr lang="en-US" sz="1250" b="1" dirty="0">
                <a:solidFill>
                  <a:srgbClr val="5C4A22"/>
                </a:solidFill>
              </a:rPr>
              <a:t>Synthetic data. </a:t>
            </a:r>
            <a:pPr indent="0" marL="0">
              <a:buNone/>
            </a:pPr>
            <a:r>
              <a:rPr lang="en-US" sz="1250" dirty="0">
                <a:solidFill>
                  <a:srgbClr val="5C4A22"/>
                </a:solidFill>
              </a:rPr>
              <a:t>Budgets are order-of-magnitude plausible for an institutional building built to CPWD DSR-style item rates, but they are assumed — not drawn from any tender, estimate or invoice. Slide 12 is about why that choice matters more than it looks.</a:t>
            </a:r>
            <a:endParaRPr lang="en-US" sz="125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Four pieces, one repository</a:t>
            </a:r>
            <a:endParaRPr lang="en-US" sz="3200" dirty="0"/>
          </a:p>
        </p:txBody>
      </p:sp>
      <p:sp>
        <p:nvSpPr>
          <p:cNvPr id="3" name="piece0"/>
          <p:cNvSpPr/>
          <p:nvPr/>
        </p:nvSpPr>
        <p:spPr>
          <a:xfrm>
            <a:off x="566928" y="1463040"/>
            <a:ext cx="5394960" cy="1426464"/>
          </a:xfrm>
          <a:prstGeom prst="roundRect">
            <a:avLst>
              <a:gd name="adj" fmla="val 3846"/>
            </a:avLst>
          </a:prstGeom>
          <a:solidFill>
            <a:schemeClr val="bg2"/>
          </a:solidFill>
          <a:ln/>
          <a:effectLst>
            <a:outerShdw sx="100000" sy="100000" kx="0" ky="0" algn="bl" rotWithShape="0" blurRad="101600" dist="25400" dir="5400000">
              <a:srgbClr val="1C262B">
                <a:alpha val="10000"/>
              </a:srgbClr>
            </a:outerShdw>
          </a:effectLst>
        </p:spPr>
      </p:sp>
      <p:sp>
        <p:nvSpPr>
          <p:cNvPr id="4" name="pc0"/>
          <p:cNvSpPr/>
          <p:nvPr/>
        </p:nvSpPr>
        <p:spPr>
          <a:xfrm>
            <a:off x="859536" y="1737360"/>
            <a:ext cx="493776" cy="493776"/>
          </a:xfrm>
          <a:prstGeom prst="ellipse">
            <a:avLst/>
          </a:prstGeom>
          <a:solidFill>
            <a:srgbClr val="3E5660"/>
          </a:solidFill>
          <a:ln/>
        </p:spPr>
      </p:sp>
      <p:sp>
        <p:nvSpPr>
          <p:cNvPr id="5" name="Text 3"/>
          <p:cNvSpPr txBox="1"/>
          <p:nvPr/>
        </p:nvSpPr>
        <p:spPr>
          <a:xfrm>
            <a:off x="859536" y="173736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99616" y="1700784"/>
            <a:ext cx="4206240" cy="384048"/>
          </a:xfrm>
          <a:prstGeom prst="rect">
            <a:avLst/>
          </a:prstGeom>
          <a:noFill/>
          <a:ln/>
        </p:spPr>
        <p:txBody>
          <a:bodyPr wrap="square" lIns="0" tIns="0" rIns="0" bIns="0" rtlCol="0" anchor="ctr"/>
          <a:lstStyle/>
          <a:p>
            <a:pPr indent="0" marL="0">
              <a:buNone/>
            </a:pPr>
            <a:r>
              <a:rPr lang="en-US" sz="1550" b="1" dirty="0">
                <a:solidFill>
                  <a:schemeClr val="tx1"/>
                </a:solidFill>
              </a:rPr>
              <a:t>Python calculation engine</a:t>
            </a:r>
            <a:endParaRPr lang="en-US" sz="1550" dirty="0"/>
          </a:p>
        </p:txBody>
      </p:sp>
      <p:sp>
        <p:nvSpPr>
          <p:cNvPr id="7" name="Text 5"/>
          <p:cNvSpPr txBox="1"/>
          <p:nvPr/>
        </p:nvSpPr>
        <p:spPr>
          <a:xfrm>
            <a:off x="1499616" y="2121408"/>
            <a:ext cx="4206240" cy="694944"/>
          </a:xfrm>
          <a:prstGeom prst="rect">
            <a:avLst/>
          </a:prstGeom>
          <a:noFill/>
          <a:ln/>
        </p:spPr>
        <p:txBody>
          <a:bodyPr wrap="square" lIns="0" tIns="0" rIns="0" bIns="0" rtlCol="0" anchor="t"/>
          <a:lstStyle/>
          <a:p>
            <a:pPr indent="0" marL="0">
              <a:buNone/>
            </a:pPr>
            <a:r>
              <a:rPr lang="en-US" sz="1200" dirty="0">
                <a:solidFill>
                  <a:srgbClr val="3E5660"/>
                </a:solidFill>
              </a:rPr>
              <a:t>Every EVM measure, computed at work-package level rather than rolled up to a single project curve.</a:t>
            </a:r>
            <a:endParaRPr lang="en-US" sz="1200" dirty="0"/>
          </a:p>
        </p:txBody>
      </p:sp>
      <p:sp>
        <p:nvSpPr>
          <p:cNvPr id="8" name="piece1"/>
          <p:cNvSpPr/>
          <p:nvPr/>
        </p:nvSpPr>
        <p:spPr>
          <a:xfrm>
            <a:off x="6144768" y="1463040"/>
            <a:ext cx="5394960" cy="1426464"/>
          </a:xfrm>
          <a:prstGeom prst="roundRect">
            <a:avLst>
              <a:gd name="adj" fmla="val 3846"/>
            </a:avLst>
          </a:prstGeom>
          <a:solidFill>
            <a:schemeClr val="bg2"/>
          </a:solidFill>
          <a:ln/>
          <a:effectLst>
            <a:outerShdw sx="100000" sy="100000" kx="0" ky="0" algn="bl" rotWithShape="0" blurRad="101600" dist="25400" dir="5400000">
              <a:srgbClr val="1C262B">
                <a:alpha val="10000"/>
              </a:srgbClr>
            </a:outerShdw>
          </a:effectLst>
        </p:spPr>
      </p:sp>
      <p:sp>
        <p:nvSpPr>
          <p:cNvPr id="9" name="pc1"/>
          <p:cNvSpPr/>
          <p:nvPr/>
        </p:nvSpPr>
        <p:spPr>
          <a:xfrm>
            <a:off x="6437376" y="1737360"/>
            <a:ext cx="493776" cy="493776"/>
          </a:xfrm>
          <a:prstGeom prst="ellipse">
            <a:avLst/>
          </a:prstGeom>
          <a:solidFill>
            <a:srgbClr val="3E5660"/>
          </a:solidFill>
          <a:ln/>
        </p:spPr>
      </p:sp>
      <p:sp>
        <p:nvSpPr>
          <p:cNvPr id="10" name="Text 8"/>
          <p:cNvSpPr txBox="1"/>
          <p:nvPr/>
        </p:nvSpPr>
        <p:spPr>
          <a:xfrm>
            <a:off x="6437376" y="173736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7077456" y="1700784"/>
            <a:ext cx="4206240" cy="384048"/>
          </a:xfrm>
          <a:prstGeom prst="rect">
            <a:avLst/>
          </a:prstGeom>
          <a:noFill/>
          <a:ln/>
        </p:spPr>
        <p:txBody>
          <a:bodyPr wrap="square" lIns="0" tIns="0" rIns="0" bIns="0" rtlCol="0" anchor="ctr"/>
          <a:lstStyle/>
          <a:p>
            <a:pPr indent="0" marL="0">
              <a:buNone/>
            </a:pPr>
            <a:r>
              <a:rPr lang="en-US" sz="1550" b="1" dirty="0">
                <a:solidFill>
                  <a:schemeClr val="tx1"/>
                </a:solidFill>
              </a:rPr>
              <a:t>Streamlit dashboard</a:t>
            </a:r>
            <a:endParaRPr lang="en-US" sz="1550" dirty="0"/>
          </a:p>
        </p:txBody>
      </p:sp>
      <p:sp>
        <p:nvSpPr>
          <p:cNvPr id="12" name="Text 10"/>
          <p:cNvSpPr txBox="1"/>
          <p:nvPr/>
        </p:nvSpPr>
        <p:spPr>
          <a:xfrm>
            <a:off x="7077456" y="2121408"/>
            <a:ext cx="4206240" cy="694944"/>
          </a:xfrm>
          <a:prstGeom prst="rect">
            <a:avLst/>
          </a:prstGeom>
          <a:noFill/>
          <a:ln/>
        </p:spPr>
        <p:txBody>
          <a:bodyPr wrap="square" lIns="0" tIns="0" rIns="0" bIns="0" rtlCol="0" anchor="t"/>
          <a:lstStyle/>
          <a:p>
            <a:pPr indent="0" marL="0">
              <a:buNone/>
            </a:pPr>
            <a:r>
              <a:rPr lang="en-US" sz="1200" dirty="0">
                <a:solidFill>
                  <a:srgbClr val="3E5660"/>
                </a:solidFill>
              </a:rPr>
              <a:t>The tool. Verdict and plain-language summary first, then indices, diagnosis and forecast.</a:t>
            </a:r>
            <a:endParaRPr lang="en-US" sz="1200" dirty="0"/>
          </a:p>
        </p:txBody>
      </p:sp>
      <p:sp>
        <p:nvSpPr>
          <p:cNvPr id="13" name="piece2"/>
          <p:cNvSpPr/>
          <p:nvPr/>
        </p:nvSpPr>
        <p:spPr>
          <a:xfrm>
            <a:off x="566928" y="3200400"/>
            <a:ext cx="5394960" cy="1426464"/>
          </a:xfrm>
          <a:prstGeom prst="roundRect">
            <a:avLst>
              <a:gd name="adj" fmla="val 3846"/>
            </a:avLst>
          </a:prstGeom>
          <a:solidFill>
            <a:schemeClr val="bg2"/>
          </a:solidFill>
          <a:ln/>
          <a:effectLst>
            <a:outerShdw sx="100000" sy="100000" kx="0" ky="0" algn="bl" rotWithShape="0" blurRad="101600" dist="25400" dir="5400000">
              <a:srgbClr val="1C262B">
                <a:alpha val="10000"/>
              </a:srgbClr>
            </a:outerShdw>
          </a:effectLst>
        </p:spPr>
      </p:sp>
      <p:sp>
        <p:nvSpPr>
          <p:cNvPr id="14" name="pc2"/>
          <p:cNvSpPr/>
          <p:nvPr/>
        </p:nvSpPr>
        <p:spPr>
          <a:xfrm>
            <a:off x="859536" y="3474720"/>
            <a:ext cx="493776" cy="493776"/>
          </a:xfrm>
          <a:prstGeom prst="ellipse">
            <a:avLst/>
          </a:prstGeom>
          <a:solidFill>
            <a:srgbClr val="4E7A6B"/>
          </a:solidFill>
          <a:ln/>
        </p:spPr>
      </p:sp>
      <p:sp>
        <p:nvSpPr>
          <p:cNvPr id="15" name="Text 13"/>
          <p:cNvSpPr txBox="1"/>
          <p:nvPr/>
        </p:nvSpPr>
        <p:spPr>
          <a:xfrm>
            <a:off x="859536" y="347472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1499616" y="3438144"/>
            <a:ext cx="4206240" cy="384048"/>
          </a:xfrm>
          <a:prstGeom prst="rect">
            <a:avLst/>
          </a:prstGeom>
          <a:noFill/>
          <a:ln/>
        </p:spPr>
        <p:txBody>
          <a:bodyPr wrap="square" lIns="0" tIns="0" rIns="0" bIns="0" rtlCol="0" anchor="ctr"/>
          <a:lstStyle/>
          <a:p>
            <a:pPr indent="0" marL="0">
              <a:buNone/>
            </a:pPr>
            <a:r>
              <a:rPr lang="en-US" sz="1550" b="1" dirty="0">
                <a:solidFill>
                  <a:schemeClr val="tx1"/>
                </a:solidFill>
              </a:rPr>
              <a:t>Live-formula Excel export</a:t>
            </a:r>
            <a:endParaRPr lang="en-US" sz="1550" dirty="0"/>
          </a:p>
        </p:txBody>
      </p:sp>
      <p:sp>
        <p:nvSpPr>
          <p:cNvPr id="17" name="Text 15"/>
          <p:cNvSpPr txBox="1"/>
          <p:nvPr/>
        </p:nvSpPr>
        <p:spPr>
          <a:xfrm>
            <a:off x="1499616" y="3858768"/>
            <a:ext cx="4206240" cy="694944"/>
          </a:xfrm>
          <a:prstGeom prst="rect">
            <a:avLst/>
          </a:prstGeom>
          <a:noFill/>
          <a:ln/>
        </p:spPr>
        <p:txBody>
          <a:bodyPr wrap="square" lIns="0" tIns="0" rIns="0" bIns="0" rtlCol="0" anchor="t"/>
          <a:lstStyle/>
          <a:p>
            <a:pPr indent="0" marL="0">
              <a:buNone/>
            </a:pPr>
            <a:r>
              <a:rPr lang="en-US" sz="1200" dirty="0">
                <a:solidFill>
                  <a:srgbClr val="3E5660"/>
                </a:solidFill>
              </a:rPr>
              <a:t>Every figure a real formula. Edit a budget or a percent complete and the whole workbook recalculates.</a:t>
            </a:r>
            <a:endParaRPr lang="en-US" sz="1200" dirty="0"/>
          </a:p>
        </p:txBody>
      </p:sp>
      <p:sp>
        <p:nvSpPr>
          <p:cNvPr id="18" name="piece3"/>
          <p:cNvSpPr/>
          <p:nvPr/>
        </p:nvSpPr>
        <p:spPr>
          <a:xfrm>
            <a:off x="6144768" y="3200400"/>
            <a:ext cx="5394960" cy="1426464"/>
          </a:xfrm>
          <a:prstGeom prst="roundRect">
            <a:avLst>
              <a:gd name="adj" fmla="val 3846"/>
            </a:avLst>
          </a:prstGeom>
          <a:solidFill>
            <a:schemeClr val="bg2"/>
          </a:solidFill>
          <a:ln/>
          <a:effectLst>
            <a:outerShdw sx="100000" sy="100000" kx="0" ky="0" algn="bl" rotWithShape="0" blurRad="101600" dist="25400" dir="5400000">
              <a:srgbClr val="1C262B">
                <a:alpha val="10000"/>
              </a:srgbClr>
            </a:outerShdw>
          </a:effectLst>
        </p:spPr>
      </p:sp>
      <p:sp>
        <p:nvSpPr>
          <p:cNvPr id="19" name="pc3"/>
          <p:cNvSpPr/>
          <p:nvPr/>
        </p:nvSpPr>
        <p:spPr>
          <a:xfrm>
            <a:off x="6437376" y="3474720"/>
            <a:ext cx="493776" cy="493776"/>
          </a:xfrm>
          <a:prstGeom prst="ellipse">
            <a:avLst/>
          </a:prstGeom>
          <a:solidFill>
            <a:srgbClr val="C1553B"/>
          </a:solidFill>
          <a:ln/>
        </p:spPr>
      </p:sp>
      <p:sp>
        <p:nvSpPr>
          <p:cNvPr id="20" name="Text 18"/>
          <p:cNvSpPr txBox="1"/>
          <p:nvPr/>
        </p:nvSpPr>
        <p:spPr>
          <a:xfrm>
            <a:off x="6437376" y="347472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7077456" y="3438144"/>
            <a:ext cx="4206240" cy="384048"/>
          </a:xfrm>
          <a:prstGeom prst="rect">
            <a:avLst/>
          </a:prstGeom>
          <a:noFill/>
          <a:ln/>
        </p:spPr>
        <p:txBody>
          <a:bodyPr wrap="square" lIns="0" tIns="0" rIns="0" bIns="0" rtlCol="0" anchor="ctr"/>
          <a:lstStyle/>
          <a:p>
            <a:pPr indent="0" marL="0">
              <a:buNone/>
            </a:pPr>
            <a:r>
              <a:rPr lang="en-US" sz="1550" b="1" dirty="0">
                <a:solidFill>
                  <a:schemeClr val="tx1"/>
                </a:solidFill>
              </a:rPr>
              <a:t>Independent manual benchmark</a:t>
            </a:r>
            <a:endParaRPr lang="en-US" sz="1550" dirty="0"/>
          </a:p>
        </p:txBody>
      </p:sp>
      <p:sp>
        <p:nvSpPr>
          <p:cNvPr id="22" name="Text 20"/>
          <p:cNvSpPr txBox="1"/>
          <p:nvPr/>
        </p:nvSpPr>
        <p:spPr>
          <a:xfrm>
            <a:off x="7077456" y="3858768"/>
            <a:ext cx="4206240" cy="694944"/>
          </a:xfrm>
          <a:prstGeom prst="rect">
            <a:avLst/>
          </a:prstGeom>
          <a:noFill/>
          <a:ln/>
        </p:spPr>
        <p:txBody>
          <a:bodyPr wrap="square" lIns="0" tIns="0" rIns="0" bIns="0" rtlCol="0" anchor="t"/>
          <a:lstStyle/>
          <a:p>
            <a:pPr indent="0" marL="0">
              <a:buNone/>
            </a:pPr>
            <a:r>
              <a:rPr lang="en-US" sz="1200" dirty="0">
                <a:solidFill>
                  <a:srgbClr val="3E5660"/>
                </a:solidFill>
              </a:rPr>
              <a:t>A separate Excel workbook, executed not re-implemented. This is how we know the numbers are right.</a:t>
            </a:r>
            <a:endParaRPr lang="en-US" sz="1200" dirty="0"/>
          </a:p>
        </p:txBody>
      </p:sp>
      <p:sp>
        <p:nvSpPr>
          <p:cNvPr id="23" name="cue"/>
          <p:cNvSpPr txBox="1"/>
          <p:nvPr/>
        </p:nvSpPr>
        <p:spPr>
          <a:xfrm>
            <a:off x="566928" y="5084064"/>
            <a:ext cx="11055096" cy="457200"/>
          </a:xfrm>
          <a:prstGeom prst="rect">
            <a:avLst/>
          </a:prstGeom>
          <a:noFill/>
          <a:ln/>
        </p:spPr>
        <p:txBody>
          <a:bodyPr wrap="square" lIns="0" tIns="0" rIns="0" bIns="0" rtlCol="0" anchor="ctr"/>
          <a:lstStyle/>
          <a:p>
            <a:pPr indent="0" marL="0">
              <a:buNone/>
            </a:pPr>
            <a:r>
              <a:rPr lang="en-US" sz="1600" b="1" dirty="0">
                <a:solidFill>
                  <a:srgbClr val="C1553B"/>
                </a:solidFill>
                <a:latin typeface="Cambria" pitchFamily="34" charset="0"/>
                <a:ea typeface="Cambria" pitchFamily="34" charset="-122"/>
                <a:cs typeface="Cambria" pitchFamily="34" charset="-120"/>
              </a:rPr>
              <a:t>→  </a:t>
            </a:r>
            <a:pPr indent="0" marL="0">
              <a:buNone/>
            </a:pPr>
            <a:r>
              <a:rPr lang="en-US" sz="1600" b="1" dirty="0">
                <a:solidFill>
                  <a:srgbClr val="C1553B"/>
                </a:solidFill>
                <a:latin typeface="Cambria" pitchFamily="34" charset="0"/>
                <a:ea typeface="Cambria" pitchFamily="34" charset="-122"/>
                <a:cs typeface="Cambria" pitchFamily="34" charset="-120"/>
              </a:rPr>
              <a:t>Switch to the live dashboard</a:t>
            </a:r>
            <a:pPr indent="0" marL="0">
              <a:buNone/>
            </a:pPr>
            <a:r>
              <a:rPr lang="en-US" sz="1600" dirty="0">
                <a:solidFill>
                  <a:srgbClr val="7D8E97"/>
                </a:solidFill>
                <a:latin typeface="Cambria" pitchFamily="34" charset="0"/>
                <a:ea typeface="Cambria" pitchFamily="34" charset="-122"/>
                <a:cs typeface="Cambria" pitchFamily="34" charset="-120"/>
              </a:rPr>
              <a:t>   — slides 6 to 9 are driven from the running tool</a:t>
            </a:r>
            <a:endParaRPr lang="en-US" sz="16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Where the project stands at month six</a:t>
            </a:r>
            <a:endParaRPr lang="en-US" sz="3200" dirty="0"/>
          </a:p>
        </p:txBody>
      </p:sp>
      <p:pic>
        <p:nvPicPr>
          <p:cNvPr id="3" name="dashboard overview screenshot" descr="/Users/ndstab/Desktop/ce725-evm-dashboard/docs/img/01-overview.jpg">    </p:cNvPr>
          <p:cNvPicPr>
            <a:picLocks noChangeAspect="1"/>
          </p:cNvPicPr>
          <p:nvPr/>
        </p:nvPicPr>
        <p:blipFill>
          <a:blip r:embed="rId1"/>
          <a:stretch>
            <a:fillRect/>
          </a:stretch>
        </p:blipFill>
        <p:spPr>
          <a:xfrm>
            <a:off x="566928" y="1152144"/>
            <a:ext cx="5971032" cy="4572000"/>
          </a:xfrm>
          <a:prstGeom prst="rect">
            <a:avLst/>
          </a:prstGeom>
        </p:spPr>
      </p:pic>
      <p:sp>
        <p:nvSpPr>
          <p:cNvPr id="4" name="cpi"/>
          <p:cNvSpPr/>
          <p:nvPr/>
        </p:nvSpPr>
        <p:spPr>
          <a:xfrm>
            <a:off x="6720840" y="1152144"/>
            <a:ext cx="4901184" cy="1170432"/>
          </a:xfrm>
          <a:prstGeom prst="roundRect">
            <a:avLst>
              <a:gd name="adj" fmla="val 4688"/>
            </a:avLst>
          </a:prstGeom>
          <a:solidFill>
            <a:schemeClr val="bg2"/>
          </a:solidFill>
          <a:ln/>
          <a:effectLst>
            <a:outerShdw sx="100000" sy="100000" kx="0" ky="0" algn="bl" rotWithShape="0" blurRad="101600" dist="25400" dir="5400000">
              <a:srgbClr val="1C262B">
                <a:alpha val="10000"/>
              </a:srgbClr>
            </a:outerShdw>
          </a:effectLst>
        </p:spPr>
      </p:sp>
      <p:sp>
        <p:nvSpPr>
          <p:cNvPr id="5" name="Text 2"/>
          <p:cNvSpPr txBox="1"/>
          <p:nvPr/>
        </p:nvSpPr>
        <p:spPr>
          <a:xfrm>
            <a:off x="6995160" y="1280160"/>
            <a:ext cx="4352544" cy="566928"/>
          </a:xfrm>
          <a:prstGeom prst="rect">
            <a:avLst/>
          </a:prstGeom>
          <a:noFill/>
          <a:ln/>
        </p:spPr>
        <p:txBody>
          <a:bodyPr wrap="square" lIns="0" tIns="0" rIns="0" bIns="0" rtlCol="0" anchor="b"/>
          <a:lstStyle/>
          <a:p>
            <a:pPr algn="l" indent="0" marL="0">
              <a:buNone/>
            </a:pPr>
            <a:r>
              <a:rPr lang="en-US" sz="2600" b="1" dirty="0">
                <a:solidFill>
                  <a:srgbClr val="C1553B"/>
                </a:solidFill>
                <a:latin typeface="Cambria" pitchFamily="34" charset="0"/>
                <a:ea typeface="Cambria" pitchFamily="34" charset="-122"/>
                <a:cs typeface="Cambria" pitchFamily="34" charset="-120"/>
              </a:rPr>
              <a:t>CPI 0.872</a:t>
            </a:r>
            <a:endParaRPr lang="en-US" sz="2600" dirty="0"/>
          </a:p>
        </p:txBody>
      </p:sp>
      <p:sp>
        <p:nvSpPr>
          <p:cNvPr id="6" name="Text 3"/>
          <p:cNvSpPr txBox="1"/>
          <p:nvPr/>
        </p:nvSpPr>
        <p:spPr>
          <a:xfrm>
            <a:off x="6995160" y="1847088"/>
            <a:ext cx="4352544" cy="347472"/>
          </a:xfrm>
          <a:prstGeom prst="rect">
            <a:avLst/>
          </a:prstGeom>
          <a:noFill/>
          <a:ln/>
        </p:spPr>
        <p:txBody>
          <a:bodyPr wrap="square" lIns="0" tIns="0" rIns="0" bIns="0" rtlCol="0" anchor="t"/>
          <a:lstStyle/>
          <a:p>
            <a:pPr algn="l" indent="0" marL="0">
              <a:buNone/>
            </a:pPr>
            <a:r>
              <a:rPr lang="en-US" sz="1150" dirty="0">
                <a:solidFill>
                  <a:srgbClr val="7D8E97"/>
                </a:solidFill>
              </a:rPr>
              <a:t>every rupee spent returns 87 paise of budgeted work</a:t>
            </a:r>
            <a:endParaRPr lang="en-US" sz="1150" dirty="0"/>
          </a:p>
        </p:txBody>
      </p:sp>
      <p:sp>
        <p:nvSpPr>
          <p:cNvPr id="7" name="tcpi"/>
          <p:cNvSpPr/>
          <p:nvPr/>
        </p:nvSpPr>
        <p:spPr>
          <a:xfrm>
            <a:off x="6720840" y="2468880"/>
            <a:ext cx="4901184" cy="1170432"/>
          </a:xfrm>
          <a:prstGeom prst="roundRect">
            <a:avLst>
              <a:gd name="adj" fmla="val 4688"/>
            </a:avLst>
          </a:prstGeom>
          <a:solidFill>
            <a:srgbClr val="C1553B"/>
          </a:solidFill>
          <a:ln/>
          <a:effectLst>
            <a:outerShdw sx="100000" sy="100000" kx="0" ky="0" algn="bl" rotWithShape="0" blurRad="101600" dist="25400" dir="5400000">
              <a:srgbClr val="1C262B">
                <a:alpha val="10000"/>
              </a:srgbClr>
            </a:outerShdw>
          </a:effectLst>
        </p:spPr>
      </p:sp>
      <p:sp>
        <p:nvSpPr>
          <p:cNvPr id="8" name="Text 5"/>
          <p:cNvSpPr txBox="1"/>
          <p:nvPr/>
        </p:nvSpPr>
        <p:spPr>
          <a:xfrm>
            <a:off x="6995160" y="2596896"/>
            <a:ext cx="4352544" cy="566928"/>
          </a:xfrm>
          <a:prstGeom prst="rect">
            <a:avLst/>
          </a:prstGeom>
          <a:noFill/>
          <a:ln/>
        </p:spPr>
        <p:txBody>
          <a:bodyPr wrap="square" lIns="0" tIns="0" rIns="0" bIns="0" rtlCol="0" anchor="b"/>
          <a:lstStyle/>
          <a:p>
            <a:pPr algn="l" indent="0" marL="0">
              <a:buNone/>
            </a:pPr>
            <a:r>
              <a:rPr lang="en-US" sz="2600" b="1" dirty="0">
                <a:solidFill>
                  <a:srgbClr val="FFFFFF"/>
                </a:solidFill>
                <a:latin typeface="Cambria" pitchFamily="34" charset="0"/>
                <a:ea typeface="Cambria" pitchFamily="34" charset="-122"/>
                <a:cs typeface="Cambria" pitchFamily="34" charset="-120"/>
              </a:rPr>
              <a:t>TCPI 1.051</a:t>
            </a:r>
            <a:endParaRPr lang="en-US" sz="2600" dirty="0"/>
          </a:p>
        </p:txBody>
      </p:sp>
      <p:sp>
        <p:nvSpPr>
          <p:cNvPr id="9" name="Text 6"/>
          <p:cNvSpPr txBox="1"/>
          <p:nvPr/>
        </p:nvSpPr>
        <p:spPr>
          <a:xfrm>
            <a:off x="6995160" y="3163824"/>
            <a:ext cx="4352544" cy="347472"/>
          </a:xfrm>
          <a:prstGeom prst="rect">
            <a:avLst/>
          </a:prstGeom>
          <a:noFill/>
          <a:ln/>
        </p:spPr>
        <p:txBody>
          <a:bodyPr wrap="square" lIns="0" tIns="0" rIns="0" bIns="0" rtlCol="0" anchor="t"/>
          <a:lstStyle/>
          <a:p>
            <a:pPr algn="l" indent="0" marL="0">
              <a:buNone/>
            </a:pPr>
            <a:r>
              <a:rPr lang="en-US" sz="1150" dirty="0">
                <a:solidFill>
                  <a:srgbClr val="F3DED8"/>
                </a:solidFill>
              </a:rPr>
              <a:t>efficiency the remaining work must now achieve</a:t>
            </a:r>
            <a:endParaRPr lang="en-US" sz="1150" dirty="0"/>
          </a:p>
        </p:txBody>
      </p:sp>
      <p:sp>
        <p:nvSpPr>
          <p:cNvPr id="10" name="tcpi-note"/>
          <p:cNvSpPr txBox="1"/>
          <p:nvPr/>
        </p:nvSpPr>
        <p:spPr>
          <a:xfrm>
            <a:off x="6720840" y="3785616"/>
            <a:ext cx="4901184" cy="1920240"/>
          </a:xfrm>
          <a:prstGeom prst="rect">
            <a:avLst/>
          </a:prstGeom>
          <a:noFill/>
          <a:ln/>
        </p:spPr>
        <p:txBody>
          <a:bodyPr wrap="square" lIns="0" tIns="0" rIns="0" bIns="0" rtlCol="0" anchor="t"/>
          <a:lstStyle/>
          <a:p>
            <a:pPr indent="0" marL="0">
              <a:spcAft>
                <a:spcPts val="800"/>
              </a:spcAft>
              <a:buNone/>
            </a:pPr>
            <a:r>
              <a:rPr lang="en-US" sz="1350" dirty="0">
                <a:solidFill>
                  <a:schemeClr val="tx1"/>
                </a:solidFill>
              </a:rPr>
              <a:t>We have sustained 0.872 for six months. TCPI asks for a 20.6% improvement on a level of performance never once achieved.</a:t>
            </a:r>
            <a:endParaRPr lang="en-US" sz="1350" dirty="0"/>
          </a:p>
          <a:p>
            <a:pPr indent="0" marL="0">
              <a:spcAft>
                <a:spcPts val="800"/>
              </a:spcAft>
              <a:buNone/>
            </a:pPr>
            <a:r>
              <a:rPr lang="en-US" sz="1350" b="1" dirty="0">
                <a:solidFill>
                  <a:schemeClr val="tx1"/>
                </a:solidFill>
              </a:rPr>
              <a:t>The budget is gone. What remains is deciding who absorbs it.</a:t>
            </a:r>
            <a:endParaRPr lang="en-US" sz="135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Where the variance actually is</a:t>
            </a:r>
            <a:endParaRPr lang="en-US" sz="3200" dirty="0"/>
          </a:p>
        </p:txBody>
      </p:sp>
      <p:pic>
        <p:nvPicPr>
          <p:cNvPr id="3" name="variance by work package screenshot" descr="/Users/ndstab/Desktop/ce725-evm-dashboard/docs/img/02-variance-by-package.jpg">    </p:cNvPr>
          <p:cNvPicPr>
            <a:picLocks noChangeAspect="1"/>
          </p:cNvPicPr>
          <p:nvPr/>
        </p:nvPicPr>
        <p:blipFill>
          <a:blip r:embed="rId1"/>
          <a:stretch>
            <a:fillRect/>
          </a:stretch>
        </p:blipFill>
        <p:spPr>
          <a:xfrm>
            <a:off x="566928" y="1152144"/>
            <a:ext cx="5971032" cy="4572000"/>
          </a:xfrm>
          <a:prstGeom prst="rect">
            <a:avLst/>
          </a:prstGeom>
        </p:spPr>
      </p:pic>
      <p:sp>
        <p:nvSpPr>
          <p:cNvPr id="4" name="split0"/>
          <p:cNvSpPr/>
          <p:nvPr/>
        </p:nvSpPr>
        <p:spPr>
          <a:xfrm>
            <a:off x="6720840" y="1152144"/>
            <a:ext cx="4901184" cy="1225296"/>
          </a:xfrm>
          <a:prstGeom prst="roundRect">
            <a:avLst>
              <a:gd name="adj" fmla="val 4478"/>
            </a:avLst>
          </a:prstGeom>
          <a:solidFill>
            <a:srgbClr val="C1553B"/>
          </a:solidFill>
          <a:ln/>
          <a:effectLst>
            <a:outerShdw sx="100000" sy="100000" kx="0" ky="0" algn="bl" rotWithShape="0" blurRad="101600" dist="25400" dir="5400000">
              <a:srgbClr val="1C262B">
                <a:alpha val="10000"/>
              </a:srgbClr>
            </a:outerShdw>
          </a:effectLst>
        </p:spPr>
      </p:sp>
      <p:sp>
        <p:nvSpPr>
          <p:cNvPr id="5" name="Text 2"/>
          <p:cNvSpPr txBox="1"/>
          <p:nvPr/>
        </p:nvSpPr>
        <p:spPr>
          <a:xfrm>
            <a:off x="6995160" y="1280160"/>
            <a:ext cx="4352544" cy="600944"/>
          </a:xfrm>
          <a:prstGeom prst="rect">
            <a:avLst/>
          </a:prstGeom>
          <a:noFill/>
          <a:ln/>
        </p:spPr>
        <p:txBody>
          <a:bodyPr wrap="square" lIns="0" tIns="0" rIns="0" bIns="0" rtlCol="0" anchor="b"/>
          <a:lstStyle/>
          <a:p>
            <a:pPr algn="l" indent="0" marL="0">
              <a:buNone/>
            </a:pPr>
            <a:r>
              <a:rPr lang="en-US" sz="2600" b="1" dirty="0">
                <a:solidFill>
                  <a:srgbClr val="FFFFFF"/>
                </a:solidFill>
                <a:latin typeface="Cambria" pitchFamily="34" charset="0"/>
                <a:ea typeface="Cambria" pitchFamily="34" charset="-122"/>
                <a:cs typeface="Cambria" pitchFamily="34" charset="-120"/>
              </a:rPr>
              <a:t>₹38 lakh</a:t>
            </a:r>
            <a:endParaRPr lang="en-US" sz="2600" dirty="0"/>
          </a:p>
        </p:txBody>
      </p:sp>
      <p:sp>
        <p:nvSpPr>
          <p:cNvPr id="6" name="Text 3"/>
          <p:cNvSpPr txBox="1"/>
          <p:nvPr/>
        </p:nvSpPr>
        <p:spPr>
          <a:xfrm>
            <a:off x="6995160" y="1881104"/>
            <a:ext cx="4352544" cy="368320"/>
          </a:xfrm>
          <a:prstGeom prst="rect">
            <a:avLst/>
          </a:prstGeom>
          <a:noFill/>
          <a:ln/>
        </p:spPr>
        <p:txBody>
          <a:bodyPr wrap="square" lIns="0" tIns="0" rIns="0" bIns="0" rtlCol="0" anchor="t"/>
          <a:lstStyle/>
          <a:p>
            <a:pPr algn="l" indent="0" marL="0">
              <a:buNone/>
            </a:pPr>
            <a:r>
              <a:rPr lang="en-US" sz="1150" dirty="0">
                <a:solidFill>
                  <a:srgbClr val="F3DED8"/>
                </a:solidFill>
              </a:rPr>
              <a:t>in three completed substructure packages — this variance is FINAL</a:t>
            </a:r>
            <a:endParaRPr lang="en-US" sz="1150" dirty="0"/>
          </a:p>
        </p:txBody>
      </p:sp>
      <p:sp>
        <p:nvSpPr>
          <p:cNvPr id="7" name="split1"/>
          <p:cNvSpPr/>
          <p:nvPr/>
        </p:nvSpPr>
        <p:spPr>
          <a:xfrm>
            <a:off x="6720840" y="2523744"/>
            <a:ext cx="4901184" cy="1225296"/>
          </a:xfrm>
          <a:prstGeom prst="roundRect">
            <a:avLst>
              <a:gd name="adj" fmla="val 4478"/>
            </a:avLst>
          </a:prstGeom>
          <a:solidFill>
            <a:schemeClr val="bg2"/>
          </a:solidFill>
          <a:ln/>
          <a:effectLst>
            <a:outerShdw sx="100000" sy="100000" kx="0" ky="0" algn="bl" rotWithShape="0" blurRad="101600" dist="25400" dir="5400000">
              <a:srgbClr val="1C262B">
                <a:alpha val="10000"/>
              </a:srgbClr>
            </a:outerShdw>
          </a:effectLst>
        </p:spPr>
      </p:sp>
      <p:sp>
        <p:nvSpPr>
          <p:cNvPr id="8" name="Text 5"/>
          <p:cNvSpPr txBox="1"/>
          <p:nvPr/>
        </p:nvSpPr>
        <p:spPr>
          <a:xfrm>
            <a:off x="6995160" y="2651760"/>
            <a:ext cx="4352544" cy="600944"/>
          </a:xfrm>
          <a:prstGeom prst="rect">
            <a:avLst/>
          </a:prstGeom>
          <a:noFill/>
          <a:ln/>
        </p:spPr>
        <p:txBody>
          <a:bodyPr wrap="square" lIns="0" tIns="0" rIns="0" bIns="0" rtlCol="0" anchor="b"/>
          <a:lstStyle/>
          <a:p>
            <a:pPr algn="l" indent="0" marL="0">
              <a:buNone/>
            </a:pPr>
            <a:r>
              <a:rPr lang="en-US" sz="2600" b="1" dirty="0">
                <a:solidFill>
                  <a:srgbClr val="4E7A6B"/>
                </a:solidFill>
                <a:latin typeface="Cambria" pitchFamily="34" charset="0"/>
                <a:ea typeface="Cambria" pitchFamily="34" charset="-122"/>
                <a:cs typeface="Cambria" pitchFamily="34" charset="-120"/>
              </a:rPr>
              <a:t>₹7.7 lakh</a:t>
            </a:r>
            <a:endParaRPr lang="en-US" sz="2600" dirty="0"/>
          </a:p>
        </p:txBody>
      </p:sp>
      <p:sp>
        <p:nvSpPr>
          <p:cNvPr id="9" name="Text 6"/>
          <p:cNvSpPr txBox="1"/>
          <p:nvPr/>
        </p:nvSpPr>
        <p:spPr>
          <a:xfrm>
            <a:off x="6995160" y="3252704"/>
            <a:ext cx="4352544" cy="368320"/>
          </a:xfrm>
          <a:prstGeom prst="rect">
            <a:avLst/>
          </a:prstGeom>
          <a:noFill/>
          <a:ln/>
        </p:spPr>
        <p:txBody>
          <a:bodyPr wrap="square" lIns="0" tIns="0" rIns="0" bIns="0" rtlCol="0" anchor="t"/>
          <a:lstStyle/>
          <a:p>
            <a:pPr algn="l" indent="0" marL="0">
              <a:buNone/>
            </a:pPr>
            <a:r>
              <a:rPr lang="en-US" sz="1150" dirty="0">
                <a:solidFill>
                  <a:srgbClr val="7D8E97"/>
                </a:solidFill>
              </a:rPr>
              <a:t>in the frame, 22% and 14% complete — this can still be managed</a:t>
            </a:r>
            <a:endParaRPr lang="en-US" sz="1150" dirty="0"/>
          </a:p>
        </p:txBody>
      </p:sp>
      <p:sp>
        <p:nvSpPr>
          <p:cNvPr id="10" name="diagnosis"/>
          <p:cNvSpPr txBox="1"/>
          <p:nvPr/>
        </p:nvSpPr>
        <p:spPr>
          <a:xfrm>
            <a:off x="6720840" y="3931920"/>
            <a:ext cx="4901184" cy="1792224"/>
          </a:xfrm>
          <a:prstGeom prst="rect">
            <a:avLst/>
          </a:prstGeom>
          <a:noFill/>
          <a:ln/>
        </p:spPr>
        <p:txBody>
          <a:bodyPr wrap="square" lIns="0" tIns="0" rIns="0" bIns="0" rtlCol="0" anchor="t"/>
          <a:lstStyle/>
          <a:p>
            <a:pPr indent="0" marL="0">
              <a:spcAft>
                <a:spcPts val="700"/>
              </a:spcAft>
              <a:buNone/>
            </a:pPr>
            <a:r>
              <a:rPr lang="en-US" sz="1300" b="1" dirty="0">
                <a:solidFill>
                  <a:schemeClr val="tx1"/>
                </a:solidFill>
              </a:rPr>
              <a:t>Excavation and earthwork: CPI 0.689, 100% complete.</a:t>
            </a:r>
            <a:endParaRPr lang="en-US" sz="1300" dirty="0"/>
          </a:p>
          <a:p>
            <a:pPr indent="0" marL="0">
              <a:spcAft>
                <a:spcPts val="700"/>
              </a:spcAft>
              <a:buNone/>
            </a:pPr>
            <a:r>
              <a:rPr lang="en-US" sz="1300" dirty="0">
                <a:solidFill>
                  <a:schemeClr val="tx1"/>
                </a:solidFill>
              </a:rPr>
              <a:t>No recovery plan touches it. Stop trying to recover the substructure, protect the frame, and tell the client ₹38 lakh is gone.</a:t>
            </a:r>
            <a:endParaRPr lang="en-US" sz="1300" dirty="0"/>
          </a:p>
          <a:p>
            <a:pPr indent="0" marL="0">
              <a:spcAft>
                <a:spcPts val="700"/>
              </a:spcAft>
              <a:buNone/>
            </a:pPr>
            <a:r>
              <a:rPr lang="en-US" sz="1300" i="1" dirty="0">
                <a:solidFill>
                  <a:srgbClr val="7D8E97"/>
                </a:solidFill>
              </a:rPr>
              <a:t>This is the slide that justifies carrying the WBS through the whole calculation instead of rolling up to one project curve.</a:t>
            </a:r>
            <a:endParaRPr lang="en-US" sz="13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SPI has a structural defect, and Earned Schedule fixes it</a:t>
            </a:r>
            <a:endParaRPr lang="en-US" sz="3200" dirty="0"/>
          </a:p>
        </p:txBody>
      </p:sp>
      <p:graphicFrame>
        <p:nvGraphicFramePr>
          <p:cNvPr id="3" name="Chart 0" descr=""/>
          <p:cNvGraphicFramePr/>
          <p:nvPr/>
        </p:nvGraphicFramePr>
        <p:xfrm>
          <a:off x="566928" y="1152144"/>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defect"/>
          <p:cNvSpPr/>
          <p:nvPr/>
        </p:nvSpPr>
        <p:spPr>
          <a:xfrm>
            <a:off x="6720840" y="1152144"/>
            <a:ext cx="4901184" cy="1700784"/>
          </a:xfrm>
          <a:prstGeom prst="roundRect">
            <a:avLst>
              <a:gd name="adj" fmla="val 3226"/>
            </a:avLst>
          </a:prstGeom>
          <a:solidFill>
            <a:schemeClr val="bg2"/>
          </a:solidFill>
          <a:ln/>
          <a:effectLst>
            <a:outerShdw sx="100000" sy="100000" kx="0" ky="0" algn="bl" rotWithShape="0" blurRad="101600" dist="25400" dir="5400000">
              <a:srgbClr val="1C262B">
                <a:alpha val="10000"/>
              </a:srgbClr>
            </a:outerShdw>
          </a:effectLst>
        </p:spPr>
      </p:sp>
      <p:sp>
        <p:nvSpPr>
          <p:cNvPr id="5" name="Text 2"/>
          <p:cNvSpPr txBox="1"/>
          <p:nvPr/>
        </p:nvSpPr>
        <p:spPr>
          <a:xfrm>
            <a:off x="6995160" y="1298448"/>
            <a:ext cx="4352544" cy="1444752"/>
          </a:xfrm>
          <a:prstGeom prst="rect">
            <a:avLst/>
          </a:prstGeom>
          <a:noFill/>
          <a:ln/>
        </p:spPr>
        <p:txBody>
          <a:bodyPr wrap="square" lIns="0" tIns="0" rIns="0" bIns="0" rtlCol="0" anchor="t"/>
          <a:lstStyle/>
          <a:p>
            <a:pPr indent="0" marL="0">
              <a:spcAft>
                <a:spcPts val="700"/>
              </a:spcAft>
              <a:buNone/>
            </a:pPr>
            <a:r>
              <a:rPr lang="en-US" sz="1300" b="1" dirty="0">
                <a:solidFill>
                  <a:schemeClr val="tx1"/>
                </a:solidFill>
                <a:latin typeface="Courier New" pitchFamily="34" charset="0"/>
                <a:ea typeface="Courier New" pitchFamily="34" charset="-122"/>
                <a:cs typeface="Courier New" pitchFamily="34" charset="-120"/>
              </a:rPr>
              <a:t>SPI = EV ÷ PV</a:t>
            </a:r>
            <a:endParaRPr lang="en-US" sz="1300" dirty="0"/>
          </a:p>
          <a:p>
            <a:pPr indent="0" marL="0">
              <a:spcAft>
                <a:spcPts val="700"/>
              </a:spcAft>
              <a:buNone/>
            </a:pPr>
            <a:r>
              <a:rPr lang="en-US" sz="1300" dirty="0">
                <a:solidFill>
                  <a:schemeClr val="tx1"/>
                </a:solidFill>
              </a:rPr>
              <a:t>At completion EV must equal BAC and PV must equal BAC.</a:t>
            </a:r>
            <a:endParaRPr lang="en-US" sz="1300" dirty="0"/>
          </a:p>
          <a:p>
            <a:pPr indent="0" marL="0">
              <a:spcAft>
                <a:spcPts val="700"/>
              </a:spcAft>
              <a:buNone/>
            </a:pPr>
            <a:r>
              <a:rPr lang="en-US" sz="1300" b="1" dirty="0">
                <a:solidFill>
                  <a:schemeClr val="tx1"/>
                </a:solidFill>
              </a:rPr>
              <a:t>So SPI returns to 1.00 on every project ever completed, however late.</a:t>
            </a:r>
            <a:endParaRPr lang="en-US" sz="1300" dirty="0"/>
          </a:p>
        </p:txBody>
      </p:sp>
      <p:sp>
        <p:nvSpPr>
          <p:cNvPr id="6" name="es"/>
          <p:cNvSpPr/>
          <p:nvPr/>
        </p:nvSpPr>
        <p:spPr>
          <a:xfrm>
            <a:off x="6720840" y="3054096"/>
            <a:ext cx="4901184" cy="1170432"/>
          </a:xfrm>
          <a:prstGeom prst="roundRect">
            <a:avLst>
              <a:gd name="adj" fmla="val 4688"/>
            </a:avLst>
          </a:prstGeom>
          <a:solidFill>
            <a:srgbClr val="4E7A6B"/>
          </a:solidFill>
          <a:ln/>
          <a:effectLst>
            <a:outerShdw sx="100000" sy="100000" kx="0" ky="0" algn="bl" rotWithShape="0" blurRad="101600" dist="25400" dir="5400000">
              <a:srgbClr val="1C262B">
                <a:alpha val="10000"/>
              </a:srgbClr>
            </a:outerShdw>
          </a:effectLst>
        </p:spPr>
      </p:sp>
      <p:sp>
        <p:nvSpPr>
          <p:cNvPr id="7" name="Text 4"/>
          <p:cNvSpPr txBox="1"/>
          <p:nvPr/>
        </p:nvSpPr>
        <p:spPr>
          <a:xfrm>
            <a:off x="6995160" y="3182112"/>
            <a:ext cx="4352544" cy="566928"/>
          </a:xfrm>
          <a:prstGeom prst="rect">
            <a:avLst/>
          </a:prstGeom>
          <a:noFill/>
          <a:ln/>
        </p:spPr>
        <p:txBody>
          <a:bodyPr wrap="square" lIns="0" tIns="0" rIns="0" bIns="0" rtlCol="0" anchor="b"/>
          <a:lstStyle/>
          <a:p>
            <a:pPr algn="l" indent="0" marL="0">
              <a:buNone/>
            </a:pPr>
            <a:r>
              <a:rPr lang="en-US" sz="2400" b="1" dirty="0">
                <a:solidFill>
                  <a:srgbClr val="FFFFFF"/>
                </a:solidFill>
                <a:latin typeface="Cambria" pitchFamily="34" charset="0"/>
                <a:ea typeface="Cambria" pitchFamily="34" charset="-122"/>
                <a:cs typeface="Cambria" pitchFamily="34" charset="-120"/>
              </a:rPr>
              <a:t>19 days behind</a:t>
            </a:r>
            <a:endParaRPr lang="en-US" sz="2400" dirty="0"/>
          </a:p>
        </p:txBody>
      </p:sp>
      <p:sp>
        <p:nvSpPr>
          <p:cNvPr id="8" name="Text 5"/>
          <p:cNvSpPr txBox="1"/>
          <p:nvPr/>
        </p:nvSpPr>
        <p:spPr>
          <a:xfrm>
            <a:off x="6995160" y="3749040"/>
            <a:ext cx="4352544" cy="347472"/>
          </a:xfrm>
          <a:prstGeom prst="rect">
            <a:avLst/>
          </a:prstGeom>
          <a:noFill/>
          <a:ln/>
        </p:spPr>
        <p:txBody>
          <a:bodyPr wrap="square" lIns="0" tIns="0" rIns="0" bIns="0" rtlCol="0" anchor="t"/>
          <a:lstStyle/>
          <a:p>
            <a:pPr algn="l" indent="0" marL="0">
              <a:buNone/>
            </a:pPr>
            <a:r>
              <a:rPr lang="en-US" sz="1150" dirty="0">
                <a:solidFill>
                  <a:srgbClr val="DCE8E4"/>
                </a:solidFill>
              </a:rPr>
              <a:t>Earned Schedule, measured in time — SPI(t) 0.893</a:t>
            </a:r>
            <a:endParaRPr lang="en-US" sz="1150" dirty="0"/>
          </a:p>
        </p:txBody>
      </p:sp>
      <p:sp>
        <p:nvSpPr>
          <p:cNvPr id="9" name="es-note"/>
          <p:cNvSpPr txBox="1"/>
          <p:nvPr/>
        </p:nvSpPr>
        <p:spPr>
          <a:xfrm>
            <a:off x="6720840" y="4370832"/>
            <a:ext cx="4901184" cy="146304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A site manager can act on nineteen days. Nobody can act on 0.863.</a:t>
            </a:r>
            <a:endParaRPr lang="en-US" sz="1300" dirty="0"/>
          </a:p>
          <a:p>
            <a:pPr indent="0" marL="0">
              <a:spcAft>
                <a:spcPts val="800"/>
              </a:spcAft>
              <a:buNone/>
            </a:pPr>
            <a:r>
              <a:rPr lang="en-US" sz="1300" dirty="0">
                <a:solidFill>
                  <a:srgbClr val="3E5660"/>
                </a:solidFill>
              </a:rPr>
              <a:t>Note CPI flat at 0.86–0.88 across all six periods while SPI swings to 0.743 and back: cost performance stabilises early and rarely recovers.</a:t>
            </a:r>
            <a:endParaRPr lang="en-US" sz="13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The forecast is a range, and that is the honest answer</a:t>
            </a:r>
            <a:endParaRPr lang="en-US" sz="3200" dirty="0"/>
          </a:p>
        </p:txBody>
      </p:sp>
      <p:graphicFrame>
        <p:nvGraphicFramePr>
          <p:cNvPr id="3" name="Chart 0" descr=""/>
          <p:cNvGraphicFramePr/>
          <p:nvPr/>
        </p:nvGraphicFramePr>
        <p:xfrm>
          <a:off x="566928" y="1152144"/>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spread"/>
          <p:cNvSpPr/>
          <p:nvPr/>
        </p:nvSpPr>
        <p:spPr>
          <a:xfrm>
            <a:off x="6720840" y="1152144"/>
            <a:ext cx="4901184" cy="1170432"/>
          </a:xfrm>
          <a:prstGeom prst="roundRect">
            <a:avLst>
              <a:gd name="adj" fmla="val 4688"/>
            </a:avLst>
          </a:prstGeom>
          <a:solidFill>
            <a:srgbClr val="C1553B"/>
          </a:solidFill>
          <a:ln/>
          <a:effectLst>
            <a:outerShdw sx="100000" sy="100000" kx="0" ky="0" algn="bl" rotWithShape="0" blurRad="101600" dist="25400" dir="5400000">
              <a:srgbClr val="1C262B">
                <a:alpha val="10000"/>
              </a:srgbClr>
            </a:outerShdw>
          </a:effectLst>
        </p:spPr>
      </p:sp>
      <p:sp>
        <p:nvSpPr>
          <p:cNvPr id="5" name="Text 2"/>
          <p:cNvSpPr txBox="1"/>
          <p:nvPr/>
        </p:nvSpPr>
        <p:spPr>
          <a:xfrm>
            <a:off x="6995160" y="1280160"/>
            <a:ext cx="4352544" cy="566928"/>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₹3.47 Cr</a:t>
            </a:r>
            <a:endParaRPr lang="en-US" sz="2800" dirty="0"/>
          </a:p>
        </p:txBody>
      </p:sp>
      <p:sp>
        <p:nvSpPr>
          <p:cNvPr id="6" name="Text 3"/>
          <p:cNvSpPr txBox="1"/>
          <p:nvPr/>
        </p:nvSpPr>
        <p:spPr>
          <a:xfrm>
            <a:off x="6995160" y="1847088"/>
            <a:ext cx="4352544" cy="347472"/>
          </a:xfrm>
          <a:prstGeom prst="rect">
            <a:avLst/>
          </a:prstGeom>
          <a:noFill/>
          <a:ln/>
        </p:spPr>
        <p:txBody>
          <a:bodyPr wrap="square" lIns="0" tIns="0" rIns="0" bIns="0" rtlCol="0" anchor="t"/>
          <a:lstStyle/>
          <a:p>
            <a:pPr algn="l" indent="0" marL="0">
              <a:buNone/>
            </a:pPr>
            <a:r>
              <a:rPr lang="en-US" sz="1150" dirty="0">
                <a:solidFill>
                  <a:srgbClr val="F3DED8"/>
                </a:solidFill>
              </a:rPr>
              <a:t>spread between the four standard methods</a:t>
            </a:r>
            <a:endParaRPr lang="en-US" sz="1150" dirty="0"/>
          </a:p>
        </p:txBody>
      </p:sp>
      <p:sp>
        <p:nvSpPr>
          <p:cNvPr id="7" name="forecast-note"/>
          <p:cNvSpPr txBox="1"/>
          <p:nvPr/>
        </p:nvSpPr>
        <p:spPr>
          <a:xfrm>
            <a:off x="6720840" y="2487168"/>
            <a:ext cx="4901184" cy="2926080"/>
          </a:xfrm>
          <a:prstGeom prst="rect">
            <a:avLst/>
          </a:prstGeom>
          <a:noFill/>
          <a:ln/>
        </p:spPr>
        <p:txBody>
          <a:bodyPr wrap="square" lIns="0" tIns="0" rIns="0" bIns="0" rtlCol="0" anchor="t"/>
          <a:lstStyle/>
          <a:p>
            <a:pPr indent="0" marL="0">
              <a:spcAft>
                <a:spcPts val="900"/>
              </a:spcAft>
              <a:buNone/>
            </a:pPr>
            <a:r>
              <a:rPr lang="en-US" sz="1350" b="1" dirty="0">
                <a:solidFill>
                  <a:schemeClr val="tx1"/>
                </a:solidFill>
              </a:rPr>
              <a:t>We deliberately do not pick one.</a:t>
            </a:r>
            <a:endParaRPr lang="en-US" sz="1350" dirty="0"/>
          </a:p>
          <a:p>
            <a:pPr indent="0" marL="0">
              <a:spcAft>
                <a:spcPts val="900"/>
              </a:spcAft>
              <a:buNone/>
            </a:pPr>
            <a:r>
              <a:rPr lang="en-US" sz="1350" dirty="0">
                <a:solidFill>
                  <a:schemeClr val="tx1"/>
                </a:solidFill>
              </a:rPr>
              <a:t>The four methods differ in a single assumption — what you believe about the remaining work. The spread is the method being honest, not failing.</a:t>
            </a:r>
            <a:endParaRPr lang="en-US" sz="1350" dirty="0"/>
          </a:p>
          <a:p>
            <a:pPr indent="0" marL="0">
              <a:spcAft>
                <a:spcPts val="900"/>
              </a:spcAft>
              <a:buNone/>
            </a:pPr>
            <a:r>
              <a:rPr lang="en-US" sz="1350" i="1" dirty="0">
                <a:solidFill>
                  <a:srgbClr val="3E5660"/>
                </a:solidFill>
              </a:rPr>
              <a:t>Narrowing it needs a judgement nobody can make arithmetically: was the rock a closed event, or a symptom of a site that was never properly investigated?</a:t>
            </a:r>
            <a:endParaRPr lang="en-US" sz="135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How we know the numbers are right</a:t>
            </a:r>
            <a:endParaRPr lang="en-US" sz="3200" dirty="0"/>
          </a:p>
        </p:txBody>
      </p:sp>
      <p:sp>
        <p:nvSpPr>
          <p:cNvPr id="3" name="inputs"/>
          <p:cNvSpPr/>
          <p:nvPr/>
        </p:nvSpPr>
        <p:spPr>
          <a:xfrm>
            <a:off x="2386584" y="1261872"/>
            <a:ext cx="2103120" cy="512064"/>
          </a:xfrm>
          <a:prstGeom prst="roundRect">
            <a:avLst>
              <a:gd name="adj" fmla="val 14286"/>
            </a:avLst>
          </a:prstGeom>
          <a:solidFill>
            <a:srgbClr val="3E5660"/>
          </a:solidFill>
          <a:ln/>
          <a:effectLst>
            <a:outerShdw sx="100000" sy="100000" kx="0" ky="0" algn="bl" rotWithShape="0" blurRad="101600" dist="25400" dir="5400000">
              <a:srgbClr val="1C262B">
                <a:alpha val="10000"/>
              </a:srgbClr>
            </a:outerShdw>
          </a:effectLst>
        </p:spPr>
      </p:sp>
      <p:sp>
        <p:nvSpPr>
          <p:cNvPr id="4" name="Text 2"/>
          <p:cNvSpPr txBox="1"/>
          <p:nvPr/>
        </p:nvSpPr>
        <p:spPr>
          <a:xfrm>
            <a:off x="2459736" y="1261872"/>
            <a:ext cx="1956816" cy="512064"/>
          </a:xfrm>
          <a:prstGeom prst="rect">
            <a:avLst/>
          </a:prstGeom>
          <a:noFill/>
          <a:ln/>
        </p:spPr>
        <p:txBody>
          <a:bodyPr wrap="square" lIns="0" tIns="0" rIns="0" bIns="0" rtlCol="0" anchor="ctr"/>
          <a:lstStyle/>
          <a:p>
            <a:pPr algn="ctr" indent="0" marL="0">
              <a:buNone/>
            </a:pPr>
            <a:r>
              <a:rPr lang="en-US" sz="1350" b="1" dirty="0">
                <a:solidFill>
                  <a:srgbClr val="FFFFFF"/>
                </a:solidFill>
              </a:rPr>
              <a:t>Raw inputs</a:t>
            </a:r>
            <a:endParaRPr lang="en-US" sz="1350" dirty="0"/>
          </a:p>
        </p:txBody>
      </p:sp>
      <p:sp>
        <p:nvSpPr>
          <p:cNvPr id="5" name="a1"/>
          <p:cNvSpPr/>
          <p:nvPr/>
        </p:nvSpPr>
        <p:spPr>
          <a:xfrm flipV="1">
            <a:off x="1755648" y="1810512"/>
            <a:ext cx="1682496" cy="548640"/>
          </a:xfrm>
          <a:prstGeom prst="line">
            <a:avLst/>
          </a:prstGeom>
          <a:noFill/>
          <a:ln w="25400">
            <a:solidFill>
              <a:srgbClr val="A8B2B8"/>
            </a:solidFill>
            <a:prstDash val="solid"/>
            <a:headEnd type="triangle"/>
          </a:ln>
        </p:spPr>
      </p:sp>
      <p:sp>
        <p:nvSpPr>
          <p:cNvPr id="6" name="a2"/>
          <p:cNvSpPr/>
          <p:nvPr/>
        </p:nvSpPr>
        <p:spPr>
          <a:xfrm>
            <a:off x="3438144" y="1810512"/>
            <a:ext cx="1682496" cy="548640"/>
          </a:xfrm>
          <a:prstGeom prst="line">
            <a:avLst/>
          </a:prstGeom>
          <a:noFill/>
          <a:ln w="25400">
            <a:solidFill>
              <a:srgbClr val="A8B2B8"/>
            </a:solidFill>
            <a:prstDash val="solid"/>
            <a:tailEnd type="triangle"/>
          </a:ln>
        </p:spPr>
      </p:sp>
      <p:sp>
        <p:nvSpPr>
          <p:cNvPr id="7" name="pyeng"/>
          <p:cNvSpPr/>
          <p:nvPr/>
        </p:nvSpPr>
        <p:spPr>
          <a:xfrm>
            <a:off x="566928" y="2395728"/>
            <a:ext cx="2377440" cy="512064"/>
          </a:xfrm>
          <a:prstGeom prst="roundRect">
            <a:avLst>
              <a:gd name="adj" fmla="val 14286"/>
            </a:avLst>
          </a:prstGeom>
          <a:solidFill>
            <a:schemeClr val="bg2"/>
          </a:solidFill>
          <a:ln/>
          <a:effectLst>
            <a:outerShdw sx="100000" sy="100000" kx="0" ky="0" algn="bl" rotWithShape="0" blurRad="101600" dist="25400" dir="5400000">
              <a:srgbClr val="1C262B">
                <a:alpha val="10000"/>
              </a:srgbClr>
            </a:outerShdw>
          </a:effectLst>
        </p:spPr>
      </p:sp>
      <p:sp>
        <p:nvSpPr>
          <p:cNvPr id="8" name="Text 6"/>
          <p:cNvSpPr txBox="1"/>
          <p:nvPr/>
        </p:nvSpPr>
        <p:spPr>
          <a:xfrm>
            <a:off x="640080" y="2395728"/>
            <a:ext cx="2231136" cy="512064"/>
          </a:xfrm>
          <a:prstGeom prst="rect">
            <a:avLst/>
          </a:prstGeom>
          <a:noFill/>
          <a:ln/>
        </p:spPr>
        <p:txBody>
          <a:bodyPr wrap="square" lIns="0" tIns="0" rIns="0" bIns="0" rtlCol="0" anchor="ctr"/>
          <a:lstStyle/>
          <a:p>
            <a:pPr algn="ctr" indent="0" marL="0">
              <a:buNone/>
            </a:pPr>
            <a:r>
              <a:rPr lang="en-US" sz="1300" b="1" dirty="0">
                <a:solidFill>
                  <a:schemeClr val="tx1"/>
                </a:solidFill>
              </a:rPr>
              <a:t>Python engine</a:t>
            </a:r>
            <a:endParaRPr lang="en-US" sz="1300" dirty="0"/>
          </a:p>
        </p:txBody>
      </p:sp>
      <p:sp>
        <p:nvSpPr>
          <p:cNvPr id="9" name="xl"/>
          <p:cNvSpPr/>
          <p:nvPr/>
        </p:nvSpPr>
        <p:spPr>
          <a:xfrm>
            <a:off x="3931920" y="2395728"/>
            <a:ext cx="2377440" cy="512064"/>
          </a:xfrm>
          <a:prstGeom prst="roundRect">
            <a:avLst>
              <a:gd name="adj" fmla="val 14286"/>
            </a:avLst>
          </a:prstGeom>
          <a:solidFill>
            <a:schemeClr val="bg2"/>
          </a:solidFill>
          <a:ln/>
          <a:effectLst>
            <a:outerShdw sx="100000" sy="100000" kx="0" ky="0" algn="bl" rotWithShape="0" blurRad="101600" dist="25400" dir="5400000">
              <a:srgbClr val="1C262B">
                <a:alpha val="10000"/>
              </a:srgbClr>
            </a:outerShdw>
          </a:effectLst>
        </p:spPr>
      </p:sp>
      <p:sp>
        <p:nvSpPr>
          <p:cNvPr id="10" name="Text 8"/>
          <p:cNvSpPr txBox="1"/>
          <p:nvPr/>
        </p:nvSpPr>
        <p:spPr>
          <a:xfrm>
            <a:off x="4005072" y="2395728"/>
            <a:ext cx="2231136" cy="512064"/>
          </a:xfrm>
          <a:prstGeom prst="rect">
            <a:avLst/>
          </a:prstGeom>
          <a:noFill/>
          <a:ln/>
        </p:spPr>
        <p:txBody>
          <a:bodyPr wrap="square" lIns="0" tIns="0" rIns="0" bIns="0" rtlCol="0" anchor="ctr"/>
          <a:lstStyle/>
          <a:p>
            <a:pPr algn="ctr" indent="0" marL="0">
              <a:buNone/>
            </a:pPr>
            <a:r>
              <a:rPr lang="en-US" sz="1300" b="1" dirty="0">
                <a:solidFill>
                  <a:schemeClr val="tx1"/>
                </a:solidFill>
              </a:rPr>
              <a:t>Excel formulas</a:t>
            </a:r>
            <a:endParaRPr lang="en-US" sz="1300" dirty="0"/>
          </a:p>
        </p:txBody>
      </p:sp>
      <p:sp>
        <p:nvSpPr>
          <p:cNvPr id="11" name="Text 9"/>
          <p:cNvSpPr txBox="1"/>
          <p:nvPr/>
        </p:nvSpPr>
        <p:spPr>
          <a:xfrm>
            <a:off x="3931920" y="2944368"/>
            <a:ext cx="2377440" cy="512064"/>
          </a:xfrm>
          <a:prstGeom prst="rect">
            <a:avLst/>
          </a:prstGeom>
          <a:noFill/>
          <a:ln/>
        </p:spPr>
        <p:txBody>
          <a:bodyPr wrap="square" lIns="0" tIns="0" rIns="0" bIns="0" rtlCol="0" anchor="ctr"/>
          <a:lstStyle/>
          <a:p>
            <a:pPr algn="ctr" indent="0" marL="0">
              <a:buNone/>
            </a:pPr>
            <a:r>
              <a:rPr lang="en-US" sz="1050" i="1" dirty="0">
                <a:solidFill>
                  <a:srgbClr val="7D8E97"/>
                </a:solidFill>
              </a:rPr>
              <a:t>evaluated by</a:t>
            </a:r>
            <a:endParaRPr lang="en-US" sz="1050" dirty="0"/>
          </a:p>
          <a:p>
            <a:pPr algn="ctr" indent="0" marL="0">
              <a:buNone/>
            </a:pPr>
            <a:r>
              <a:rPr lang="en-US" sz="1050" i="1" dirty="0">
                <a:solidFill>
                  <a:srgbClr val="7D8E97"/>
                </a:solidFill>
              </a:rPr>
              <a:t>LibreOffice headless</a:t>
            </a:r>
            <a:endParaRPr lang="en-US" sz="1050" dirty="0"/>
          </a:p>
        </p:txBody>
      </p:sp>
      <p:sp>
        <p:nvSpPr>
          <p:cNvPr id="12" name="a3"/>
          <p:cNvSpPr/>
          <p:nvPr/>
        </p:nvSpPr>
        <p:spPr>
          <a:xfrm>
            <a:off x="1755648" y="2944368"/>
            <a:ext cx="1682496" cy="1078992"/>
          </a:xfrm>
          <a:prstGeom prst="line">
            <a:avLst/>
          </a:prstGeom>
          <a:noFill/>
          <a:ln w="25400">
            <a:solidFill>
              <a:srgbClr val="A8B2B8"/>
            </a:solidFill>
            <a:prstDash val="solid"/>
            <a:tailEnd type="triangle"/>
          </a:ln>
        </p:spPr>
      </p:sp>
      <p:sp>
        <p:nvSpPr>
          <p:cNvPr id="13" name="a4"/>
          <p:cNvSpPr/>
          <p:nvPr/>
        </p:nvSpPr>
        <p:spPr>
          <a:xfrm flipV="1">
            <a:off x="3438144" y="3529584"/>
            <a:ext cx="1682496" cy="493776"/>
          </a:xfrm>
          <a:prstGeom prst="line">
            <a:avLst/>
          </a:prstGeom>
          <a:noFill/>
          <a:ln w="25400">
            <a:solidFill>
              <a:srgbClr val="A8B2B8"/>
            </a:solidFill>
            <a:prstDash val="solid"/>
            <a:headEnd type="triangle"/>
          </a:ln>
        </p:spPr>
      </p:sp>
      <p:sp>
        <p:nvSpPr>
          <p:cNvPr id="14" name="cmp"/>
          <p:cNvSpPr/>
          <p:nvPr/>
        </p:nvSpPr>
        <p:spPr>
          <a:xfrm>
            <a:off x="2386584" y="4059936"/>
            <a:ext cx="2103120" cy="512064"/>
          </a:xfrm>
          <a:prstGeom prst="roundRect">
            <a:avLst>
              <a:gd name="adj" fmla="val 14286"/>
            </a:avLst>
          </a:prstGeom>
          <a:solidFill>
            <a:srgbClr val="C1553B"/>
          </a:solidFill>
          <a:ln/>
          <a:effectLst>
            <a:outerShdw sx="100000" sy="100000" kx="0" ky="0" algn="bl" rotWithShape="0" blurRad="101600" dist="25400" dir="5400000">
              <a:srgbClr val="1C262B">
                <a:alpha val="10000"/>
              </a:srgbClr>
            </a:outerShdw>
          </a:effectLst>
        </p:spPr>
      </p:sp>
      <p:sp>
        <p:nvSpPr>
          <p:cNvPr id="15" name="Text 13"/>
          <p:cNvSpPr txBox="1"/>
          <p:nvPr/>
        </p:nvSpPr>
        <p:spPr>
          <a:xfrm>
            <a:off x="2459736" y="4059936"/>
            <a:ext cx="1956816" cy="512064"/>
          </a:xfrm>
          <a:prstGeom prst="rect">
            <a:avLst/>
          </a:prstGeom>
          <a:noFill/>
          <a:ln/>
        </p:spPr>
        <p:txBody>
          <a:bodyPr wrap="square" lIns="0" tIns="0" rIns="0" bIns="0" rtlCol="0" anchor="ctr"/>
          <a:lstStyle/>
          <a:p>
            <a:pPr algn="ctr" indent="0" marL="0">
              <a:buNone/>
            </a:pPr>
            <a:r>
              <a:rPr lang="en-US" sz="1350" b="1" dirty="0">
                <a:solidFill>
                  <a:srgbClr val="FFFFFF"/>
                </a:solidFill>
              </a:rPr>
              <a:t>Compare</a:t>
            </a:r>
            <a:endParaRPr lang="en-US" sz="1350" dirty="0"/>
          </a:p>
        </p:txBody>
      </p:sp>
      <p:sp>
        <p:nvSpPr>
          <p:cNvPr id="16" name="Text 14"/>
          <p:cNvSpPr txBox="1"/>
          <p:nvPr/>
        </p:nvSpPr>
        <p:spPr>
          <a:xfrm>
            <a:off x="1645920" y="4645152"/>
            <a:ext cx="3584448" cy="310896"/>
          </a:xfrm>
          <a:prstGeom prst="rect">
            <a:avLst/>
          </a:prstGeom>
          <a:noFill/>
          <a:ln/>
        </p:spPr>
        <p:txBody>
          <a:bodyPr wrap="square" lIns="0" tIns="0" rIns="0" bIns="0" rtlCol="0" anchor="ctr"/>
          <a:lstStyle/>
          <a:p>
            <a:pPr algn="ctr" indent="0" marL="0">
              <a:buNone/>
            </a:pPr>
            <a:r>
              <a:rPr lang="en-US" sz="1100" dirty="0">
                <a:solidFill>
                  <a:srgbClr val="7D8E97"/>
                </a:solidFill>
              </a:rPr>
              <a:t>50 measures, two reporting periods</a:t>
            </a:r>
            <a:endParaRPr lang="en-US" sz="1100" dirty="0"/>
          </a:p>
        </p:txBody>
      </p:sp>
      <p:sp>
        <p:nvSpPr>
          <p:cNvPr id="17" name="num0"/>
          <p:cNvSpPr/>
          <p:nvPr/>
        </p:nvSpPr>
        <p:spPr>
          <a:xfrm>
            <a:off x="6629400" y="1261872"/>
            <a:ext cx="2404872" cy="1645920"/>
          </a:xfrm>
          <a:prstGeom prst="roundRect">
            <a:avLst>
              <a:gd name="adj" fmla="val 3333"/>
            </a:avLst>
          </a:prstGeom>
          <a:solidFill>
            <a:schemeClr val="bg2"/>
          </a:solidFill>
          <a:ln/>
          <a:effectLst>
            <a:outerShdw sx="100000" sy="100000" kx="0" ky="0" algn="bl" rotWithShape="0" blurRad="101600" dist="25400" dir="5400000">
              <a:srgbClr val="1C262B">
                <a:alpha val="10000"/>
              </a:srgbClr>
            </a:outerShdw>
          </a:effectLst>
        </p:spPr>
      </p:sp>
      <p:sp>
        <p:nvSpPr>
          <p:cNvPr id="18" name="Text 16"/>
          <p:cNvSpPr txBox="1"/>
          <p:nvPr/>
        </p:nvSpPr>
        <p:spPr>
          <a:xfrm>
            <a:off x="6867144" y="1389888"/>
            <a:ext cx="1929384" cy="861731"/>
          </a:xfrm>
          <a:prstGeom prst="rect">
            <a:avLst/>
          </a:prstGeom>
          <a:noFill/>
          <a:ln/>
        </p:spPr>
        <p:txBody>
          <a:bodyPr wrap="square" lIns="0" tIns="0" rIns="0" bIns="0" rtlCol="0" anchor="b"/>
          <a:lstStyle/>
          <a:p>
            <a:pPr algn="l" indent="0" marL="0">
              <a:buNone/>
            </a:pPr>
            <a:r>
              <a:rPr lang="en-US" sz="2400" b="1" dirty="0">
                <a:solidFill>
                  <a:srgbClr val="4E7A6B"/>
                </a:solidFill>
                <a:latin typeface="Cambria" pitchFamily="34" charset="0"/>
                <a:ea typeface="Cambria" pitchFamily="34" charset="-122"/>
                <a:cs typeface="Cambria" pitchFamily="34" charset="-120"/>
              </a:rPr>
              <a:t>50 / 50</a:t>
            </a:r>
            <a:endParaRPr lang="en-US" sz="2400" dirty="0"/>
          </a:p>
        </p:txBody>
      </p:sp>
      <p:sp>
        <p:nvSpPr>
          <p:cNvPr id="19" name="Text 17"/>
          <p:cNvSpPr txBox="1"/>
          <p:nvPr/>
        </p:nvSpPr>
        <p:spPr>
          <a:xfrm>
            <a:off x="6867144" y="2251619"/>
            <a:ext cx="1929384" cy="528157"/>
          </a:xfrm>
          <a:prstGeom prst="rect">
            <a:avLst/>
          </a:prstGeom>
          <a:noFill/>
          <a:ln/>
        </p:spPr>
        <p:txBody>
          <a:bodyPr wrap="square" lIns="0" tIns="0" rIns="0" bIns="0" rtlCol="0" anchor="t"/>
          <a:lstStyle/>
          <a:p>
            <a:pPr algn="l" indent="0" marL="0">
              <a:buNone/>
            </a:pPr>
            <a:r>
              <a:rPr lang="en-US" sz="1150" dirty="0">
                <a:solidFill>
                  <a:srgbClr val="7D8E97"/>
                </a:solidFill>
              </a:rPr>
              <a:t>comparisons agree — to ₹0.01 on currency, 1×10⁻⁹ on indices</a:t>
            </a:r>
            <a:endParaRPr lang="en-US" sz="1150" dirty="0"/>
          </a:p>
        </p:txBody>
      </p:sp>
      <p:sp>
        <p:nvSpPr>
          <p:cNvPr id="20" name="num1"/>
          <p:cNvSpPr/>
          <p:nvPr/>
        </p:nvSpPr>
        <p:spPr>
          <a:xfrm>
            <a:off x="9217152" y="1261872"/>
            <a:ext cx="2404872" cy="1645920"/>
          </a:xfrm>
          <a:prstGeom prst="roundRect">
            <a:avLst>
              <a:gd name="adj" fmla="val 3333"/>
            </a:avLst>
          </a:prstGeom>
          <a:solidFill>
            <a:schemeClr val="bg2"/>
          </a:solidFill>
          <a:ln/>
          <a:effectLst>
            <a:outerShdw sx="100000" sy="100000" kx="0" ky="0" algn="bl" rotWithShape="0" blurRad="101600" dist="25400" dir="5400000">
              <a:srgbClr val="1C262B">
                <a:alpha val="10000"/>
              </a:srgbClr>
            </a:outerShdw>
          </a:effectLst>
        </p:spPr>
      </p:sp>
      <p:sp>
        <p:nvSpPr>
          <p:cNvPr id="21" name="Text 19"/>
          <p:cNvSpPr txBox="1"/>
          <p:nvPr/>
        </p:nvSpPr>
        <p:spPr>
          <a:xfrm>
            <a:off x="9454896" y="1389888"/>
            <a:ext cx="1929384" cy="861731"/>
          </a:xfrm>
          <a:prstGeom prst="rect">
            <a:avLst/>
          </a:prstGeom>
          <a:noFill/>
          <a:ln/>
        </p:spPr>
        <p:txBody>
          <a:bodyPr wrap="square" lIns="0" tIns="0" rIns="0" bIns="0" rtlCol="0" anchor="b"/>
          <a:lstStyle/>
          <a:p>
            <a:pPr algn="l" indent="0" marL="0">
              <a:buNone/>
            </a:pPr>
            <a:r>
              <a:rPr lang="en-US" sz="2400" b="1" dirty="0">
                <a:solidFill>
                  <a:srgbClr val="4E7A6B"/>
                </a:solidFill>
                <a:latin typeface="Cambria" pitchFamily="34" charset="0"/>
                <a:ea typeface="Cambria" pitchFamily="34" charset="-122"/>
                <a:cs typeface="Cambria" pitchFamily="34" charset="-120"/>
              </a:rPr>
              <a:t>150</a:t>
            </a:r>
            <a:endParaRPr lang="en-US" sz="2400" dirty="0"/>
          </a:p>
        </p:txBody>
      </p:sp>
      <p:sp>
        <p:nvSpPr>
          <p:cNvPr id="22" name="Text 20"/>
          <p:cNvSpPr txBox="1"/>
          <p:nvPr/>
        </p:nvSpPr>
        <p:spPr>
          <a:xfrm>
            <a:off x="9454896" y="2251619"/>
            <a:ext cx="1929384" cy="528157"/>
          </a:xfrm>
          <a:prstGeom prst="rect">
            <a:avLst/>
          </a:prstGeom>
          <a:noFill/>
          <a:ln/>
        </p:spPr>
        <p:txBody>
          <a:bodyPr wrap="square" lIns="0" tIns="0" rIns="0" bIns="0" rtlCol="0" anchor="t"/>
          <a:lstStyle/>
          <a:p>
            <a:pPr algn="l" indent="0" marL="0">
              <a:buNone/>
            </a:pPr>
            <a:r>
              <a:rPr lang="en-US" sz="1150" dirty="0">
                <a:solidFill>
                  <a:srgbClr val="7D8E97"/>
                </a:solidFill>
              </a:rPr>
              <a:t>automated tests — expected values hand-derived before the engine existed</a:t>
            </a:r>
            <a:endParaRPr lang="en-US" sz="1150" dirty="0"/>
          </a:p>
        </p:txBody>
      </p:sp>
      <p:sp>
        <p:nvSpPr>
          <p:cNvPr id="23" name="keydecision"/>
          <p:cNvSpPr/>
          <p:nvPr/>
        </p:nvSpPr>
        <p:spPr>
          <a:xfrm>
            <a:off x="6629400" y="3090672"/>
            <a:ext cx="4992624" cy="2304288"/>
          </a:xfrm>
          <a:prstGeom prst="roundRect">
            <a:avLst>
              <a:gd name="adj" fmla="val 2381"/>
            </a:avLst>
          </a:prstGeom>
          <a:solidFill>
            <a:srgbClr val="3E5660"/>
          </a:solidFill>
          <a:ln/>
          <a:effectLst>
            <a:outerShdw sx="100000" sy="100000" kx="0" ky="0" algn="bl" rotWithShape="0" blurRad="101600" dist="25400" dir="5400000">
              <a:srgbClr val="1C262B">
                <a:alpha val="10000"/>
              </a:srgbClr>
            </a:outerShdw>
          </a:effectLst>
        </p:spPr>
      </p:sp>
      <p:sp>
        <p:nvSpPr>
          <p:cNvPr id="24" name="Text 22"/>
          <p:cNvSpPr txBox="1"/>
          <p:nvPr/>
        </p:nvSpPr>
        <p:spPr>
          <a:xfrm>
            <a:off x="6903720" y="3236976"/>
            <a:ext cx="4443984" cy="329184"/>
          </a:xfrm>
          <a:prstGeom prst="rect">
            <a:avLst/>
          </a:prstGeom>
          <a:noFill/>
          <a:ln/>
        </p:spPr>
        <p:txBody>
          <a:bodyPr wrap="square" lIns="0" tIns="0" rIns="0" bIns="0" rtlCol="0" anchor="ctr"/>
          <a:lstStyle/>
          <a:p>
            <a:pPr indent="0" marL="0">
              <a:buNone/>
            </a:pPr>
            <a:r>
              <a:rPr lang="en-US" sz="1300" b="1" dirty="0">
                <a:solidFill>
                  <a:srgbClr val="A8B2B8"/>
                </a:solidFill>
              </a:rPr>
              <a:t>The decision that mattered</a:t>
            </a:r>
            <a:endParaRPr lang="en-US" sz="1300" dirty="0"/>
          </a:p>
        </p:txBody>
      </p:sp>
      <p:sp>
        <p:nvSpPr>
          <p:cNvPr id="25" name="Text 23"/>
          <p:cNvSpPr txBox="1"/>
          <p:nvPr/>
        </p:nvSpPr>
        <p:spPr>
          <a:xfrm>
            <a:off x="6903720" y="3602736"/>
            <a:ext cx="4443984" cy="1682496"/>
          </a:xfrm>
          <a:prstGeom prst="rect">
            <a:avLst/>
          </a:prstGeom>
          <a:noFill/>
          <a:ln/>
        </p:spPr>
        <p:txBody>
          <a:bodyPr wrap="square" lIns="0" tIns="0" rIns="0" bIns="0" rtlCol="0" anchor="t"/>
          <a:lstStyle/>
          <a:p>
            <a:pPr indent="0" marL="0">
              <a:spcAft>
                <a:spcPts val="700"/>
              </a:spcAft>
              <a:buNone/>
            </a:pPr>
            <a:r>
              <a:rPr lang="en-US" sz="1250" b="1" dirty="0">
                <a:solidFill>
                  <a:srgbClr val="FFFFFF"/>
                </a:solidFill>
              </a:rPr>
              <a:t>Not to write a second Python implementation.</a:t>
            </a:r>
            <a:endParaRPr lang="en-US" sz="1250" dirty="0"/>
          </a:p>
          <a:p>
            <a:pPr indent="0" marL="0">
              <a:spcAft>
                <a:spcPts val="700"/>
              </a:spcAft>
              <a:buNone/>
            </a:pPr>
            <a:r>
              <a:rPr lang="en-US" sz="1250" dirty="0">
                <a:solidFill>
                  <a:srgbClr val="FFFFFF"/>
                </a:solidFill>
              </a:rPr>
              <a:t>A Python re-implementation validates only your own understanding. Misread a formula and both sides misread it identically, the comparison passes, and both are wrong.</a:t>
            </a:r>
            <a:endParaRPr lang="en-US" sz="1250" dirty="0"/>
          </a:p>
          <a:p>
            <a:pPr indent="0" marL="0">
              <a:spcAft>
                <a:spcPts val="700"/>
              </a:spcAft>
              <a:buNone/>
            </a:pPr>
            <a:r>
              <a:rPr lang="en-US" sz="1250" dirty="0">
                <a:solidFill>
                  <a:srgbClr val="FFFFFF"/>
                </a:solidFill>
              </a:rPr>
              <a:t>So the benchmark lives in a different execution environment, and it is executed — not re-implemented.</a:t>
            </a:r>
            <a:endParaRPr lang="en-US" sz="125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tx1"/>
                </a:solidFill>
              </a:rPr>
              <a:t>Four discrepancies, all recorded</a:t>
            </a:r>
            <a:endParaRPr lang="en-US" sz="3200" dirty="0"/>
          </a:p>
        </p:txBody>
      </p:sp>
      <p:graphicFrame>
        <p:nvGraphicFramePr>
          <p:cNvPr id="12" name="discrepancies"/>
          <p:cNvGraphicFramePr>
            <a:graphicFrameLocks noGrp="1"/>
          </p:cNvGraphicFramePr>
          <p:nvPr>
            <p:extLst>
              <p:ext uri="{D42A27DB-BD31-4B8C-83A1-F6EECF244321}">
                <p14:modId xmlns:p14="http://schemas.microsoft.com/office/powerpoint/2010/main" val="1579011935"/>
              </p:ext>
            </p:extLst>
          </p:nvPr>
        </p:nvGraphicFramePr>
        <p:xfrm>
          <a:off x="566928" y="1225296"/>
          <a:ext cx="11055096" cy="914400"/>
        </p:xfrm>
        <a:graphic>
          <a:graphicData uri="http://schemas.openxmlformats.org/drawingml/2006/table">
            <a:tbl>
              <a:tblPr/>
              <a:tblGrid>
                <a:gridCol w="3200400"/>
                <a:gridCol w="7854696"/>
              </a:tblGrid>
              <a:tr h="384048">
                <a:tc>
                  <a:txBody>
                    <a:bodyPr/>
                    <a:lstStyle/>
                    <a:p>
                      <a:pPr indent="0" marL="0">
                        <a:buNone/>
                      </a:pPr>
                      <a:r>
                        <a:rPr lang="en-US" sz="1250" b="1" dirty="0">
                          <a:solidFill>
                            <a:srgbClr val="FFFFFF"/>
                          </a:solidFill>
                        </a:rPr>
                        <a:t>What we found</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3E5660"/>
                    </a:solidFill>
                  </a:tcPr>
                </a:tc>
                <a:tc>
                  <a:txBody>
                    <a:bodyPr/>
                    <a:lstStyle/>
                    <a:p>
                      <a:pPr indent="0" marL="0">
                        <a:buNone/>
                      </a:pPr>
                      <a:r>
                        <a:rPr lang="en-US" sz="1250" b="1" dirty="0">
                          <a:solidFill>
                            <a:srgbClr val="FFFFFF"/>
                          </a:solidFill>
                        </a:rPr>
                        <a:t>How it resolved</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3E5660"/>
                    </a:solidFill>
                  </a:tcPr>
                </a:tc>
              </a:tr>
              <a:tr h="868680">
                <a:tc>
                  <a:txBody>
                    <a:bodyPr/>
                    <a:lstStyle/>
                    <a:p>
                      <a:pPr indent="0" marL="0">
                        <a:buNone/>
                      </a:pPr>
                      <a:r>
                        <a:rPr lang="en-US" sz="1250" dirty="0">
                          <a:solidFill>
                            <a:schemeClr val="tx1"/>
                          </a:solidFill>
                        </a:rPr>
                        <a:t>EAC3 off by ₹156</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50" b="1" dirty="0">
                          <a:solidFill>
                            <a:schemeClr val="tx1"/>
                          </a:solidFill>
                        </a:rPr>
                        <a:t>Our hand calculation was wrong, not the engine</a:t>
                      </a:r>
                      <a:pPr indent="0" marL="0">
                        <a:buNone/>
                      </a:pPr>
                      <a:r>
                        <a:rPr lang="en-US" sz="1250" dirty="0">
                          <a:solidFill>
                            <a:schemeClr val="tx1"/>
                          </a:solidFill>
                        </a:rPr>
                        <a:t> — we rounded CPI × SPI mid-chain. Rule adopted: rounding is presentation only.</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868680">
                <a:tc>
                  <a:txBody>
                    <a:bodyPr/>
                    <a:lstStyle/>
                    <a:p>
                      <a:pPr indent="0" marL="0">
                        <a:buNone/>
                      </a:pPr>
                      <a:r>
                        <a:rPr lang="en-US" sz="1250" dirty="0">
                          <a:solidFill>
                            <a:schemeClr val="tx1"/>
                          </a:solidFill>
                        </a:rPr>
                        <a:t>Two validation tests failing</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50" b="1" dirty="0">
                          <a:solidFill>
                            <a:schemeClr val="tx1"/>
                          </a:solidFill>
                        </a:rPr>
                        <a:t>The tests were wrong, not the engine.</a:t>
                      </a:r>
                      <a:pPr indent="0" marL="0">
                        <a:buNone/>
                      </a:pPr>
                      <a:r>
                        <a:rPr lang="en-US" sz="1250" dirty="0">
                          <a:solidFill>
                            <a:schemeClr val="tx1"/>
                          </a:solidFill>
                        </a:rPr>
                        <a:t> Fixing the code to make them pass would have deleted a rule that rejects earned value being double counted.</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868680">
                <a:tc>
                  <a:txBody>
                    <a:bodyPr/>
                    <a:lstStyle/>
                    <a:p>
                      <a:pPr indent="0" marL="0">
                        <a:buNone/>
                      </a:pPr>
                      <a:r>
                        <a:rPr lang="en-US" sz="1250" dirty="0">
                          <a:solidFill>
                            <a:schemeClr val="tx1"/>
                          </a:solidFill>
                        </a:rPr>
                        <a:t>Executive summary invisible under a dark theme</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50" b="1" dirty="0">
                          <a:solidFill>
                            <a:schemeClr val="tx1"/>
                          </a:solidFill>
                        </a:rPr>
                        <a:t>No test caught it. </a:t>
                      </a:r>
                      <a:pPr indent="0" marL="0">
                        <a:buNone/>
                      </a:pPr>
                      <a:r>
                        <a:rPr lang="en-US" sz="1250" dirty="0">
                          <a:solidFill>
                            <a:schemeClr val="tx1"/>
                          </a:solidFill>
                        </a:rPr>
                        <a:t>Every number was correct and the tool was unusable. Found only by opening the running app.</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868680">
                <a:tc>
                  <a:txBody>
                    <a:bodyPr/>
                    <a:lstStyle/>
                    <a:p>
                      <a:pPr indent="0" marL="0">
                        <a:buNone/>
                      </a:pPr>
                      <a:r>
                        <a:rPr lang="en-US" sz="1250" dirty="0">
                          <a:solidFill>
                            <a:schemeClr val="tx1"/>
                          </a:solidFill>
                        </a:rPr>
                        <a:t>Carry-forward routine fragile on reporting gaps</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50" b="1" dirty="0">
                          <a:solidFill>
                            <a:schemeClr val="tx1"/>
                          </a:solidFill>
                        </a:rPr>
                        <a:t>Caught in review before it produced a wrong answer. </a:t>
                      </a:r>
                      <a:pPr indent="0" marL="0">
                        <a:buNone/>
                      </a:pPr>
                      <a:r>
                        <a:rPr lang="en-US" sz="1250" dirty="0">
                          <a:solidFill>
                            <a:schemeClr val="tx1"/>
                          </a:solidFill>
                        </a:rPr>
                        <a:t>Clean data hid it; real data would not.</a:t>
                      </a:r>
                      <a:endParaRPr lang="en-US" sz="1250" dirty="0"/>
                    </a:p>
                  </a:txBody>
                  <a:tcPr marL="128016" marR="128016" marT="82296" marB="82296"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bl>
          </a:graphicData>
        </a:graphic>
      </p:graphicFrame>
      <p:sp>
        <p:nvSpPr>
          <p:cNvPr id="4" name="lesson"/>
          <p:cNvSpPr/>
          <p:nvPr/>
        </p:nvSpPr>
        <p:spPr>
          <a:xfrm>
            <a:off x="566928" y="5138928"/>
            <a:ext cx="11055096" cy="987552"/>
          </a:xfrm>
          <a:prstGeom prst="roundRect">
            <a:avLst>
              <a:gd name="adj" fmla="val 5556"/>
            </a:avLst>
          </a:prstGeom>
          <a:solidFill>
            <a:schemeClr val="bg2"/>
          </a:solidFill>
          <a:ln/>
          <a:effectLst>
            <a:outerShdw sx="100000" sy="100000" kx="0" ky="0" algn="bl" rotWithShape="0" blurRad="101600" dist="25400" dir="5400000">
              <a:srgbClr val="1C262B">
                <a:alpha val="10000"/>
              </a:srgbClr>
            </a:outerShdw>
          </a:effectLst>
        </p:spPr>
      </p:sp>
      <p:sp>
        <p:nvSpPr>
          <p:cNvPr id="5" name="Text 2"/>
          <p:cNvSpPr txBox="1"/>
          <p:nvPr/>
        </p:nvSpPr>
        <p:spPr>
          <a:xfrm>
            <a:off x="877824" y="5285232"/>
            <a:ext cx="10424160" cy="694944"/>
          </a:xfrm>
          <a:prstGeom prst="rect">
            <a:avLst/>
          </a:prstGeom>
          <a:noFill/>
          <a:ln/>
        </p:spPr>
        <p:txBody>
          <a:bodyPr wrap="square" lIns="0" tIns="0" rIns="0" bIns="0" rtlCol="0" anchor="ctr"/>
          <a:lstStyle/>
          <a:p>
            <a:pPr indent="0" marL="0">
              <a:buNone/>
            </a:pPr>
            <a:r>
              <a:rPr lang="en-US" sz="1300" b="1" dirty="0">
                <a:solidFill>
                  <a:schemeClr val="tx1"/>
                </a:solidFill>
              </a:rPr>
              <a:t>The second one matters most. </a:t>
            </a:r>
            <a:pPr indent="0" marL="0">
              <a:buNone/>
            </a:pPr>
            <a:r>
              <a:rPr lang="en-US" sz="1300" dirty="0">
                <a:solidFill>
                  <a:schemeClr val="tx1"/>
                </a:solidFill>
              </a:rPr>
              <a:t>The fast route to a green test suite was to change the engine until the tests passed — which would have made the project worse while making the output greener. Ask why a test fails before changing anything.</a:t>
            </a:r>
            <a:endParaRPr lang="en-US" sz="13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8B2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58368"/>
          </a:xfrm>
          <a:prstGeom prst="rect">
            <a:avLst/>
          </a:prstGeom>
          <a:noFill/>
          <a:ln/>
        </p:spPr>
        <p:txBody>
          <a:bodyPr wrap="square" lIns="0" tIns="0" rIns="0" bIns="0" rtlCol="0" anchor="ctr"/>
          <a:lstStyle/>
          <a:p>
            <a:pPr algn="l" indent="0" marL="0">
              <a:buNone/>
            </a:pPr>
            <a:r>
              <a:rPr lang="en-US" sz="3200" b="1" dirty="0">
                <a:solidFill>
                  <a:schemeClr val="bg1"/>
                </a:solidFill>
              </a:rPr>
              <a:t>What none of this validation can do</a:t>
            </a:r>
            <a:endParaRPr lang="en-US" sz="3200" dirty="0"/>
          </a:p>
        </p:txBody>
      </p:sp>
      <p:sp>
        <p:nvSpPr>
          <p:cNvPr id="3" name="premise"/>
          <p:cNvSpPr txBox="1"/>
          <p:nvPr/>
        </p:nvSpPr>
        <p:spPr>
          <a:xfrm>
            <a:off x="566928" y="1152144"/>
            <a:ext cx="11055096" cy="457200"/>
          </a:xfrm>
          <a:prstGeom prst="rect">
            <a:avLst/>
          </a:prstGeom>
          <a:noFill/>
          <a:ln/>
        </p:spPr>
        <p:txBody>
          <a:bodyPr wrap="square" lIns="0" tIns="0" rIns="0" bIns="0" rtlCol="0" anchor="ctr"/>
          <a:lstStyle/>
          <a:p>
            <a:pPr indent="0" marL="0">
              <a:buNone/>
            </a:pPr>
            <a:r>
              <a:rPr lang="en-US" sz="2000" b="1" dirty="0">
                <a:solidFill>
                  <a:srgbClr val="A8B2B8"/>
                </a:solidFill>
                <a:latin typeface="Cambria" pitchFamily="34" charset="0"/>
                <a:ea typeface="Cambria" pitchFamily="34" charset="-122"/>
                <a:cs typeface="Cambria" pitchFamily="34" charset="-120"/>
              </a:rPr>
              <a:t>Both implementations read the same inputs.</a:t>
            </a:r>
            <a:endParaRPr lang="en-US" sz="2000" dirty="0"/>
          </a:p>
        </p:txBody>
      </p:sp>
      <p:sp>
        <p:nvSpPr>
          <p:cNvPr id="4" name="wrongpct"/>
          <p:cNvSpPr/>
          <p:nvPr/>
        </p:nvSpPr>
        <p:spPr>
          <a:xfrm>
            <a:off x="566928" y="1755648"/>
            <a:ext cx="3200400" cy="1371600"/>
          </a:xfrm>
          <a:prstGeom prst="roundRect">
            <a:avLst>
              <a:gd name="adj" fmla="val 4000"/>
            </a:avLst>
          </a:prstGeom>
          <a:solidFill>
            <a:srgbClr val="C1553B"/>
          </a:solidFill>
          <a:ln/>
          <a:effectLst>
            <a:outerShdw sx="100000" sy="100000" kx="0" ky="0" algn="bl" rotWithShape="0" blurRad="101600" dist="25400" dir="5400000">
              <a:srgbClr val="1C262B">
                <a:alpha val="10000"/>
              </a:srgbClr>
            </a:outerShdw>
          </a:effectLst>
        </p:spPr>
      </p:sp>
      <p:sp>
        <p:nvSpPr>
          <p:cNvPr id="5" name="Text 3"/>
          <p:cNvSpPr txBox="1"/>
          <p:nvPr/>
        </p:nvSpPr>
        <p:spPr>
          <a:xfrm>
            <a:off x="841248" y="1755648"/>
            <a:ext cx="2651760" cy="13716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60% reported</a:t>
            </a:r>
            <a:endParaRPr lang="en-US" sz="2100" dirty="0"/>
          </a:p>
          <a:p>
            <a:pPr indent="0" marL="0">
              <a:buNone/>
            </a:pPr>
            <a:r>
              <a:rPr lang="en-US" sz="2100" b="1" dirty="0">
                <a:solidFill>
                  <a:srgbClr val="FFFFFF"/>
                </a:solidFill>
                <a:latin typeface="Cambria" pitchFamily="34" charset="0"/>
                <a:ea typeface="Cambria" pitchFamily="34" charset="-122"/>
                <a:cs typeface="Cambria" pitchFamily="34" charset="-120"/>
              </a:rPr>
              <a:t>40% actual</a:t>
            </a:r>
            <a:endParaRPr lang="en-US" sz="2100" dirty="0"/>
          </a:p>
        </p:txBody>
      </p:sp>
      <p:sp>
        <p:nvSpPr>
          <p:cNvPr id="6" name="ch0"/>
          <p:cNvSpPr/>
          <p:nvPr/>
        </p:nvSpPr>
        <p:spPr>
          <a:xfrm>
            <a:off x="4114800" y="1773936"/>
            <a:ext cx="310896" cy="310896"/>
          </a:xfrm>
          <a:prstGeom prst="ellipse">
            <a:avLst/>
          </a:prstGeom>
          <a:solidFill>
            <a:srgbClr val="3E5660"/>
          </a:solidFill>
          <a:ln/>
        </p:spPr>
      </p:sp>
      <p:sp>
        <p:nvSpPr>
          <p:cNvPr id="7" name="Text 5"/>
          <p:cNvSpPr txBox="1"/>
          <p:nvPr/>
        </p:nvSpPr>
        <p:spPr>
          <a:xfrm>
            <a:off x="4114800" y="1773936"/>
            <a:ext cx="310896" cy="310896"/>
          </a:xfrm>
          <a:prstGeom prst="rect">
            <a:avLst/>
          </a:prstGeom>
          <a:noFill/>
          <a:ln/>
        </p:spPr>
        <p:txBody>
          <a:bodyPr wrap="square" lIns="0" tIns="0" rIns="0" bIns="0" rtlCol="0" anchor="ctr"/>
          <a:lstStyle/>
          <a:p>
            <a:pPr algn="ctr" indent="0" marL="0">
              <a:buNone/>
            </a:pPr>
            <a:r>
              <a:rPr lang="en-US" sz="1100" b="1" dirty="0">
                <a:solidFill>
                  <a:srgbClr val="A8B2B8"/>
                </a:solidFill>
              </a:rPr>
              <a:t>1</a:t>
            </a:r>
            <a:endParaRPr lang="en-US" sz="1100" dirty="0"/>
          </a:p>
        </p:txBody>
      </p:sp>
      <p:sp>
        <p:nvSpPr>
          <p:cNvPr id="8" name="Text 6"/>
          <p:cNvSpPr txBox="1"/>
          <p:nvPr/>
        </p:nvSpPr>
        <p:spPr>
          <a:xfrm>
            <a:off x="4572000" y="1755648"/>
            <a:ext cx="7040880" cy="347472"/>
          </a:xfrm>
          <a:prstGeom prst="rect">
            <a:avLst/>
          </a:prstGeom>
          <a:noFill/>
          <a:ln/>
        </p:spPr>
        <p:txBody>
          <a:bodyPr wrap="square" lIns="0" tIns="0" rIns="0" bIns="0" rtlCol="0" anchor="ctr"/>
          <a:lstStyle/>
          <a:p>
            <a:pPr indent="0" marL="0">
              <a:buNone/>
            </a:pPr>
            <a:r>
              <a:rPr lang="en-US" sz="1400" dirty="0">
                <a:solidFill>
                  <a:srgbClr val="FFFFFF"/>
                </a:solidFill>
              </a:rPr>
              <a:t>the engine computes a wrong EV</a:t>
            </a:r>
            <a:endParaRPr lang="en-US" sz="1400" dirty="0"/>
          </a:p>
        </p:txBody>
      </p:sp>
      <p:sp>
        <p:nvSpPr>
          <p:cNvPr id="9" name="ch1"/>
          <p:cNvSpPr/>
          <p:nvPr/>
        </p:nvSpPr>
        <p:spPr>
          <a:xfrm>
            <a:off x="4114800" y="2139696"/>
            <a:ext cx="310896" cy="310896"/>
          </a:xfrm>
          <a:prstGeom prst="ellipse">
            <a:avLst/>
          </a:prstGeom>
          <a:solidFill>
            <a:srgbClr val="3E5660"/>
          </a:solidFill>
          <a:ln/>
        </p:spPr>
      </p:sp>
      <p:sp>
        <p:nvSpPr>
          <p:cNvPr id="10" name="Text 8"/>
          <p:cNvSpPr txBox="1"/>
          <p:nvPr/>
        </p:nvSpPr>
        <p:spPr>
          <a:xfrm>
            <a:off x="4114800" y="2139696"/>
            <a:ext cx="310896" cy="310896"/>
          </a:xfrm>
          <a:prstGeom prst="rect">
            <a:avLst/>
          </a:prstGeom>
          <a:noFill/>
          <a:ln/>
        </p:spPr>
        <p:txBody>
          <a:bodyPr wrap="square" lIns="0" tIns="0" rIns="0" bIns="0" rtlCol="0" anchor="ctr"/>
          <a:lstStyle/>
          <a:p>
            <a:pPr algn="ctr" indent="0" marL="0">
              <a:buNone/>
            </a:pPr>
            <a:r>
              <a:rPr lang="en-US" sz="1100" b="1" dirty="0">
                <a:solidFill>
                  <a:srgbClr val="A8B2B8"/>
                </a:solidFill>
              </a:rPr>
              <a:t>2</a:t>
            </a:r>
            <a:endParaRPr lang="en-US" sz="1100" dirty="0"/>
          </a:p>
        </p:txBody>
      </p:sp>
      <p:sp>
        <p:nvSpPr>
          <p:cNvPr id="11" name="Text 9"/>
          <p:cNvSpPr txBox="1"/>
          <p:nvPr/>
        </p:nvSpPr>
        <p:spPr>
          <a:xfrm>
            <a:off x="4572000" y="2121408"/>
            <a:ext cx="7040880" cy="347472"/>
          </a:xfrm>
          <a:prstGeom prst="rect">
            <a:avLst/>
          </a:prstGeom>
          <a:noFill/>
          <a:ln/>
        </p:spPr>
        <p:txBody>
          <a:bodyPr wrap="square" lIns="0" tIns="0" rIns="0" bIns="0" rtlCol="0" anchor="ctr"/>
          <a:lstStyle/>
          <a:p>
            <a:pPr indent="0" marL="0">
              <a:buNone/>
            </a:pPr>
            <a:r>
              <a:rPr lang="en-US" sz="1400" dirty="0">
                <a:solidFill>
                  <a:srgbClr val="FFFFFF"/>
                </a:solidFill>
              </a:rPr>
              <a:t>the benchmark computes the same wrong EV</a:t>
            </a:r>
            <a:endParaRPr lang="en-US" sz="1400" dirty="0"/>
          </a:p>
        </p:txBody>
      </p:sp>
      <p:sp>
        <p:nvSpPr>
          <p:cNvPr id="12" name="ch2"/>
          <p:cNvSpPr/>
          <p:nvPr/>
        </p:nvSpPr>
        <p:spPr>
          <a:xfrm>
            <a:off x="4114800" y="2505456"/>
            <a:ext cx="310896" cy="310896"/>
          </a:xfrm>
          <a:prstGeom prst="ellipse">
            <a:avLst/>
          </a:prstGeom>
          <a:solidFill>
            <a:srgbClr val="3E5660"/>
          </a:solidFill>
          <a:ln/>
        </p:spPr>
      </p:sp>
      <p:sp>
        <p:nvSpPr>
          <p:cNvPr id="13" name="Text 11"/>
          <p:cNvSpPr txBox="1"/>
          <p:nvPr/>
        </p:nvSpPr>
        <p:spPr>
          <a:xfrm>
            <a:off x="4114800" y="2505456"/>
            <a:ext cx="310896" cy="310896"/>
          </a:xfrm>
          <a:prstGeom prst="rect">
            <a:avLst/>
          </a:prstGeom>
          <a:noFill/>
          <a:ln/>
        </p:spPr>
        <p:txBody>
          <a:bodyPr wrap="square" lIns="0" tIns="0" rIns="0" bIns="0" rtlCol="0" anchor="ctr"/>
          <a:lstStyle/>
          <a:p>
            <a:pPr algn="ctr" indent="0" marL="0">
              <a:buNone/>
            </a:pPr>
            <a:r>
              <a:rPr lang="en-US" sz="1100" b="1" dirty="0">
                <a:solidFill>
                  <a:srgbClr val="A8B2B8"/>
                </a:solidFill>
              </a:rPr>
              <a:t>3</a:t>
            </a:r>
            <a:endParaRPr lang="en-US" sz="1100" dirty="0"/>
          </a:p>
        </p:txBody>
      </p:sp>
      <p:sp>
        <p:nvSpPr>
          <p:cNvPr id="14" name="Text 12"/>
          <p:cNvSpPr txBox="1"/>
          <p:nvPr/>
        </p:nvSpPr>
        <p:spPr>
          <a:xfrm>
            <a:off x="4572000" y="2487168"/>
            <a:ext cx="7040880" cy="347472"/>
          </a:xfrm>
          <a:prstGeom prst="rect">
            <a:avLst/>
          </a:prstGeom>
          <a:noFill/>
          <a:ln/>
        </p:spPr>
        <p:txBody>
          <a:bodyPr wrap="square" lIns="0" tIns="0" rIns="0" bIns="0" rtlCol="0" anchor="ctr"/>
          <a:lstStyle/>
          <a:p>
            <a:pPr indent="0" marL="0">
              <a:buNone/>
            </a:pPr>
            <a:r>
              <a:rPr lang="en-US" sz="1400" dirty="0">
                <a:solidFill>
                  <a:srgbClr val="FFFFFF"/>
                </a:solidFill>
              </a:rPr>
              <a:t>all 50 comparisons agree</a:t>
            </a:r>
            <a:endParaRPr lang="en-US" sz="1400" dirty="0"/>
          </a:p>
        </p:txBody>
      </p:sp>
      <p:sp>
        <p:nvSpPr>
          <p:cNvPr id="15" name="ch3"/>
          <p:cNvSpPr/>
          <p:nvPr/>
        </p:nvSpPr>
        <p:spPr>
          <a:xfrm>
            <a:off x="4114800" y="2871216"/>
            <a:ext cx="310896" cy="310896"/>
          </a:xfrm>
          <a:prstGeom prst="ellipse">
            <a:avLst/>
          </a:prstGeom>
          <a:solidFill>
            <a:srgbClr val="C1553B"/>
          </a:solidFill>
          <a:ln/>
        </p:spPr>
      </p:sp>
      <p:sp>
        <p:nvSpPr>
          <p:cNvPr id="16" name="Text 14"/>
          <p:cNvSpPr txBox="1"/>
          <p:nvPr/>
        </p:nvSpPr>
        <p:spPr>
          <a:xfrm>
            <a:off x="4114800" y="28712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7" name="Text 15"/>
          <p:cNvSpPr txBox="1"/>
          <p:nvPr/>
        </p:nvSpPr>
        <p:spPr>
          <a:xfrm>
            <a:off x="4572000" y="2852928"/>
            <a:ext cx="7040880" cy="347472"/>
          </a:xfrm>
          <a:prstGeom prst="rect">
            <a:avLst/>
          </a:prstGeom>
          <a:noFill/>
          <a:ln/>
        </p:spPr>
        <p:txBody>
          <a:bodyPr wrap="square" lIns="0" tIns="0" rIns="0" bIns="0" rtlCol="0" anchor="ctr"/>
          <a:lstStyle/>
          <a:p>
            <a:pPr indent="0" marL="0">
              <a:buNone/>
            </a:pPr>
            <a:r>
              <a:rPr lang="en-US" sz="1400" b="1" dirty="0">
                <a:solidFill>
                  <a:srgbClr val="C1553B"/>
                </a:solidFill>
              </a:rPr>
              <a:t>every index is confidently, precisely wrong</a:t>
            </a:r>
            <a:endParaRPr lang="en-US" sz="1400" dirty="0"/>
          </a:p>
        </p:txBody>
      </p:sp>
      <p:sp>
        <p:nvSpPr>
          <p:cNvPr id="18" name="definition"/>
          <p:cNvSpPr/>
          <p:nvPr/>
        </p:nvSpPr>
        <p:spPr>
          <a:xfrm>
            <a:off x="566928" y="3401568"/>
            <a:ext cx="11055096" cy="969264"/>
          </a:xfrm>
          <a:prstGeom prst="roundRect">
            <a:avLst>
              <a:gd name="adj" fmla="val 5660"/>
            </a:avLst>
          </a:prstGeom>
          <a:solidFill>
            <a:srgbClr val="3E5660"/>
          </a:solidFill>
          <a:ln/>
          <a:effectLst>
            <a:outerShdw sx="100000" sy="100000" kx="0" ky="0" algn="bl" rotWithShape="0" blurRad="101600" dist="25400" dir="5400000">
              <a:srgbClr val="1C262B">
                <a:alpha val="10000"/>
              </a:srgbClr>
            </a:outerShdw>
          </a:effectLst>
        </p:spPr>
      </p:sp>
      <p:sp>
        <p:nvSpPr>
          <p:cNvPr id="19" name="Text 17"/>
          <p:cNvSpPr txBox="1"/>
          <p:nvPr/>
        </p:nvSpPr>
        <p:spPr>
          <a:xfrm>
            <a:off x="877824" y="3529584"/>
            <a:ext cx="10424160" cy="713232"/>
          </a:xfrm>
          <a:prstGeom prst="rect">
            <a:avLst/>
          </a:prstGeom>
          <a:noFill/>
          <a:ln/>
        </p:spPr>
        <p:txBody>
          <a:bodyPr wrap="square" lIns="0" tIns="0" rIns="0" bIns="0" rtlCol="0" anchor="ctr"/>
          <a:lstStyle/>
          <a:p>
            <a:pPr indent="0" marL="0">
              <a:buNone/>
            </a:pPr>
            <a:r>
              <a:rPr lang="en-US" sz="1350" b="1" dirty="0">
                <a:solidFill>
                  <a:srgbClr val="FFFFFF"/>
                </a:solidFill>
              </a:rPr>
              <a:t>Earned value is percent complete × budget. </a:t>
            </a:r>
            <a:pPr indent="0" marL="0">
              <a:buNone/>
            </a:pPr>
            <a:r>
              <a:rPr lang="en-US" sz="1350" dirty="0">
                <a:solidFill>
                  <a:srgbClr val="FFFFFF"/>
                </a:solidFill>
              </a:rPr>
              <a:t>Percent complete is a judgement made at site, often by someone who is paid more if it is higher. No spreadsheet and no test suite detects an error in it — only a measurement at site does.</a:t>
            </a:r>
            <a:endParaRPr lang="en-US" sz="1350" dirty="0"/>
          </a:p>
        </p:txBody>
      </p:sp>
      <p:sp>
        <p:nvSpPr>
          <p:cNvPr id="20" name="closing-note"/>
          <p:cNvSpPr txBox="1"/>
          <p:nvPr/>
        </p:nvSpPr>
        <p:spPr>
          <a:xfrm>
            <a:off x="566928" y="4572000"/>
            <a:ext cx="11055096" cy="914400"/>
          </a:xfrm>
          <a:prstGeom prst="rect">
            <a:avLst/>
          </a:prstGeom>
          <a:noFill/>
          <a:ln/>
        </p:spPr>
        <p:txBody>
          <a:bodyPr wrap="square" lIns="0" tIns="0" rIns="0" bIns="0" rtlCol="0" anchor="t"/>
          <a:lstStyle/>
          <a:p>
            <a:pPr indent="0" marL="0">
              <a:spcAft>
                <a:spcPts val="700"/>
              </a:spcAft>
              <a:buNone/>
            </a:pPr>
            <a:r>
              <a:rPr lang="en-US" sz="1350" b="1" dirty="0">
                <a:solidFill>
                  <a:srgbClr val="A8B2B8"/>
                </a:solidFill>
              </a:rPr>
              <a:t>We validated the arithmetic to nine decimal places. The arithmetic was never the risk.</a:t>
            </a:r>
            <a:endParaRPr lang="en-US" sz="1350" dirty="0"/>
          </a:p>
          <a:p>
            <a:pPr indent="0" marL="0">
              <a:spcAft>
                <a:spcPts val="700"/>
              </a:spcAft>
              <a:buNone/>
            </a:pPr>
            <a:r>
              <a:rPr lang="en-US" sz="1350" dirty="0">
                <a:solidFill>
                  <a:srgbClr val="A8B2B8"/>
                </a:solidFill>
              </a:rPr>
              <a:t>And every design choice that makes this dashboard more persuasive makes the problem worse: it renders an unverifiable judgement with six-figure precision, a traffic light and a chart.</a:t>
            </a:r>
            <a:endParaRPr lang="en-US" sz="1350" dirty="0"/>
          </a:p>
        </p:txBody>
      </p:sp>
      <p:sp>
        <p:nvSpPr>
          <p:cNvPr id="21" name="final"/>
          <p:cNvSpPr txBox="1"/>
          <p:nvPr/>
        </p:nvSpPr>
        <p:spPr>
          <a:xfrm>
            <a:off x="566928" y="5577840"/>
            <a:ext cx="11055096" cy="4572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The quality of an EVM system is the quality of its percent-complete measurement.</a:t>
            </a:r>
            <a:endParaRPr lang="en-US" sz="1800" dirty="0"/>
          </a:p>
        </p:txBody>
      </p:sp>
      <p:sp>
        <p:nvSpPr>
          <p:cNvPr id="25" name="Slide Number Placeholder 0"/>
          <p:cNvSpPr>
            <a:spLocks noGrp="1"/>
          </p:cNvSpPr>
          <p:nvPr>
            <p:ph type="sldNum" sz="quarter" idx="4294967295"/>
          </p:nvPr>
        </p:nvSpPr>
        <p:spPr>
          <a:xfrm>
            <a:off x="11430000" y="635508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D8E97"/>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oncrete and Rust">
  <a:themeElements>
    <a:clrScheme name="Concrete and Rust">
      <a:dk1>
        <a:srgbClr val="1C262B"/>
      </a:dk1>
      <a:lt1>
        <a:srgbClr val="FFFFFF"/>
      </a:lt1>
      <a:dk2>
        <a:srgbClr val="26353D"/>
      </a:dk2>
      <a:lt2>
        <a:srgbClr val="EDF0F1"/>
      </a:lt2>
      <a:accent1>
        <a:srgbClr val="C1553B"/>
      </a:accent1>
      <a:accent2>
        <a:srgbClr val="4E7A6B"/>
      </a:accent2>
      <a:accent3>
        <a:srgbClr val="7D8E97"/>
      </a:accent3>
      <a:accent4>
        <a:srgbClr val="D4A04C"/>
      </a:accent4>
      <a:accent5>
        <a:srgbClr val="3E5660"/>
      </a:accent5>
      <a:accent6>
        <a:srgbClr val="A8B2B8"/>
      </a:accent6>
      <a:hlink>
        <a:srgbClr val="C1553B"/>
      </a:hlink>
      <a:folHlink>
        <a:srgbClr val="7D8E97"/>
      </a:folHlink>
    </a:clrScheme>
    <a:fontScheme name="Concrete and Ru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CE725 Construction Economics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Earned Value Management Dashboard</dc:title>
  <dc:subject>Topic 7 — Earned Value Management Dashboard</dc:subject>
  <dc:creator>Team 40</dc:creator>
  <cp:lastModifiedBy>Team 40</cp:lastModifiedBy>
  <cp:revision>1</cp:revision>
  <dcterms:created xsi:type="dcterms:W3CDTF">2026-10-29T19:39:37Z</dcterms:created>
  <dcterms:modified xsi:type="dcterms:W3CDTF">2026-10-29T19:39:37Z</dcterms:modified>
</cp:coreProperties>
</file>